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1b9a482d3df64a7b" /><Relationship Type="http://schemas.openxmlformats.org/package/2006/relationships/metadata/core-properties" Target="/docProps/core.xml" Id="Ref3ecf4e5a2949d0" /><Relationship Type="http://schemas.openxmlformats.org/officeDocument/2006/relationships/extended-properties" Target="/docProps/app.xml" Id="R3063478e1172498b" /><Relationship Type="http://schemas.openxmlformats.org/officeDocument/2006/relationships/custom-properties" Target="/docProps/custom.xml" Id="Rbc5e45741ee64771"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54d5e085675c4c75"/>
  </p:notesMasterIdLst>
  <p:sldIdLst>
    <p:sldId id="256" r:id="R7a1f53a2e0014548"/>
    <p:sldId id="257" r:id="R0b9def9582a9459e"/>
    <p:sldId id="258" r:id="Rf17798e88b924141"/>
    <p:sldId id="259" r:id="Rec97908d6d414732"/>
    <p:sldId id="260" r:id="R7f0394e2ccd94bd0"/>
    <p:sldId id="261" r:id="Rfd0233af7e084796"/>
    <p:sldId id="262" r:id="Rf7c14d8b5447498a"/>
    <p:sldId id="263" r:id="R6187bd639e754272"/>
    <p:sldId id="264" r:id="R289bb72c296841f8"/>
    <p:sldId id="265" r:id="R7f2c6872ca3c4c00"/>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7a1f53a2e0014548" /><Relationship Type="http://schemas.openxmlformats.org/officeDocument/2006/relationships/notesMaster" Target="/ppt/notesMasters/notesMaster1.xml" Id="R54d5e085675c4c75" /><Relationship Type="http://schemas.openxmlformats.org/officeDocument/2006/relationships/slide" Target="/ppt/slides/slide2.xml" Id="R0b9def9582a9459e" /><Relationship Type="http://schemas.openxmlformats.org/officeDocument/2006/relationships/slide" Target="/ppt/slides/slide3.xml" Id="Rf17798e88b924141" /><Relationship Type="http://schemas.openxmlformats.org/officeDocument/2006/relationships/slide" Target="/ppt/slides/slide4.xml" Id="Rec97908d6d414732" /><Relationship Type="http://schemas.openxmlformats.org/officeDocument/2006/relationships/slide" Target="/ppt/slides/slide5.xml" Id="R7f0394e2ccd94bd0" /><Relationship Type="http://schemas.openxmlformats.org/officeDocument/2006/relationships/slide" Target="/ppt/slides/slide6.xml" Id="Rfd0233af7e084796" /><Relationship Type="http://schemas.openxmlformats.org/officeDocument/2006/relationships/slide" Target="/ppt/slides/slide7.xml" Id="Rf7c14d8b5447498a" /><Relationship Type="http://schemas.openxmlformats.org/officeDocument/2006/relationships/slide" Target="/ppt/slides/slide8.xml" Id="R6187bd639e754272" /><Relationship Type="http://schemas.openxmlformats.org/officeDocument/2006/relationships/slide" Target="/ppt/slides/slide9.xml" Id="R289bb72c296841f8" /><Relationship Type="http://schemas.openxmlformats.org/officeDocument/2006/relationships/slide" Target="/ppt/slides/slide10.xml" Id="R7f2c6872ca3c4c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814ec96831b441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003681f7445845f3" /><Relationship Type="http://schemas.openxmlformats.org/officeDocument/2006/relationships/slide" Target="/ppt/slides/slide1.xml" Id="Rb0f96aebfd30452f"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b0693746c07d44dc" /><Relationship Type="http://schemas.openxmlformats.org/officeDocument/2006/relationships/slide" Target="/ppt/slides/slide2.xml" Id="R3ff020c695e54968"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506a4b1c4e2646e8" /><Relationship Type="http://schemas.openxmlformats.org/officeDocument/2006/relationships/slide" Target="/ppt/slides/slide3.xml" Id="R7603498721fd4dd6"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5e1c25a00366472f" /><Relationship Type="http://schemas.openxmlformats.org/officeDocument/2006/relationships/slide" Target="/ppt/slides/slide4.xml" Id="R199b2a7f20a44e09"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715abfad480c42a9" /><Relationship Type="http://schemas.openxmlformats.org/officeDocument/2006/relationships/slide" Target="/ppt/slides/slide5.xml" Id="Rdca4c7e52e7f4a19"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3ddbe7d90fb94a6d" /><Relationship Type="http://schemas.openxmlformats.org/officeDocument/2006/relationships/slide" Target="/ppt/slides/slide6.xml" Id="R3ba2fbcf1d5747ed"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569031a4b7314582" /><Relationship Type="http://schemas.openxmlformats.org/officeDocument/2006/relationships/slide" Target="/ppt/slides/slide7.xml" Id="Re0841fcc9f0b4bbe"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bafe8b20a0e74f6d" /><Relationship Type="http://schemas.openxmlformats.org/officeDocument/2006/relationships/slide" Target="/ppt/slides/slide8.xml" Id="Rf7850a8f122449a2"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fdd5e86776f94ef8" /><Relationship Type="http://schemas.openxmlformats.org/officeDocument/2006/relationships/slide" Target="/ppt/slides/slide9.xml" Id="R705d52bd288c4e5f"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facda7cac46646b6" /><Relationship Type="http://schemas.openxmlformats.org/officeDocument/2006/relationships/slide" Target="/ppt/slides/slide10.xml" Id="Rc375afc71afb49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This project is an SDG 16 LegalTech MVP that converts a citizen's plain-language or voice grievance into a statute-cited, law-clinic-verified legal notice. Key innovation: an MCP Statute Server ensures the LLM never hallucinates legal citations.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India has 40 million+ pending court cases. The average citizen cannot afford a lawyer's fee of ₹2,000-₹8,000 just for a basic pre-litigation notice. Three root causes: cost barrier, complexity barrier (legal language is inaccessible), and trust barrier (AI tools hallucinate law).</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5-step pipeline: 1) Citizen intake via voice/text wizard. 2) MCP Statute Server fetches verbatim law sections — the LLM never invents citations. 3) LLM drafts notice prose around verbatim statute text. 4) Law clinic student reviews on split-screen dashboard. 5) SHA-256 PDF dispatched with JWT-signed settlement portal URL.</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Architecture: 4-layer system. Frontend on GitHub Pages (static export). FastAPI backend with PII masker as a security gate. LLM service switches between Ollama (local, zero-cost) and OpenAI via one env var. MCP Statute Server is the anti-hallucination layer — all citations come from here. Postgres/SQLite for persistence.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MCP Statute Server is the core innovation. LLMs hallucinate law — so we never ask them to recall statute text. Instead, all citations flow through a deterministic MCP tool that searches 34 verified provisions. The LLM only writes prose around citations the MCP server returns. A second validation tool checks every citation in the draft before it goes to the clinic reviewer.</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PII masking pipeline: before any LLM call, mask_dict replaces phone, Aadhaar, PAN, bank account, UPI, and email with opaque tokens like &lt;&lt;PHONE_1&gt;&gt;. The pii_store is a plain dict that lives only on the call stack — never written to DB or logs. After the LLM responds, unmask_pii re-hydrates before storing to the database and rendering the PDF. 53 automated tests verify this.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Four role views. 1) Citizen Intake: voice (Hindi/English), 3 sample cases, offline demo mode. 2) Law Clinic: JWT-auth, split-screen editor, green statute badges, approve/reject. 3) Settlement Portal: JWT-signed URL with 30-day expiry, 7-day countdown, 4 resolution options. 4) Dashboard: SDG metrics, cost tracker, case pipeline funnel.</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158 total tests, all passing. Backend: 108 tests across intake, notice generation, clinic approval workflow, and 53 dedicated security tests. MCP server: 50 tests covering the BM25 search engine and both MCP tool interfaces. The security tests verify that no raw PII ever appears in an LLM prompt, and that every RBAC boundary is correctly enforced.</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Four-phase roadmap. Phase 1 (MVP, now): 3 categories, 34 provisions, live on GitHub Pages. Phase 2 (0-6 months): expand to Motor Accident, Family, Land disputes; WhatsApp channel; voice-first mobile. Phase 3 (6-18 months): district court integration, e-filing, multi-language, NGO portal. Phase 4 (18+ months): open API, judicial analytics, international adaptation. Target: 1 million notices per year at under Rs 50 each.</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Key takeaways: zero-cost legal notices via local LLM, anti-hallucination guarantee via MCP statute server, privacy-first design with PII masking, and live on GitHub Pages. 158 tests passing. Demo at ayushgadigone-del.github.io/legal-rights-navigator</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7a42ab37e94f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58b0a123684e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2a075b2d0d4e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d2a75fe20742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e4203eb6574716"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2fe3a8e7934c485a"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092bef0b22374170" /><Relationship Type="http://schemas.openxmlformats.org/officeDocument/2006/relationships/notesSlide" Target="/ppt/notesSlides/notesSlide1.xml" Id="Rb0e7b0fcf9964e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d934d41b194032" /><Relationship Type="http://schemas.openxmlformats.org/officeDocument/2006/relationships/notesSlide" Target="/ppt/notesSlides/notesSlide2.xml" Id="R5184668ec5854c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724988ca0345e6" /><Relationship Type="http://schemas.openxmlformats.org/officeDocument/2006/relationships/notesSlide" Target="/ppt/notesSlides/notesSlide3.xml" Id="Rb4bc8fea1dc64e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ce24dccba94bf7" /><Relationship Type="http://schemas.openxmlformats.org/officeDocument/2006/relationships/notesSlide" Target="/ppt/notesSlides/notesSlide4.xml" Id="Rfbb1d979ff0d44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bf3d52e66f432d" /><Relationship Type="http://schemas.openxmlformats.org/officeDocument/2006/relationships/notesSlide" Target="/ppt/notesSlides/notesSlide5.xml" Id="R7ac0bdd4327e4d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541f6593044451" /><Relationship Type="http://schemas.openxmlformats.org/officeDocument/2006/relationships/notesSlide" Target="/ppt/notesSlides/notesSlide6.xml" Id="R2ae1a8eea9eb47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c68d346f1149f7" /><Relationship Type="http://schemas.openxmlformats.org/officeDocument/2006/relationships/notesSlide" Target="/ppt/notesSlides/notesSlide7.xml" Id="Rbe37ef1c13284c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a3da923a594caa" /><Relationship Type="http://schemas.openxmlformats.org/officeDocument/2006/relationships/notesSlide" Target="/ppt/notesSlides/notesSlide8.xml" Id="R0954011b186142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aabbaeca624ab3" /><Relationship Type="http://schemas.openxmlformats.org/officeDocument/2006/relationships/notesSlide" Target="/ppt/notesSlides/notesSlide9.xml" Id="R199a3b83d8094e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1de104a1fb413c" /><Relationship Type="http://schemas.openxmlformats.org/officeDocument/2006/relationships/notesSlide" Target="/ppt/notesSlides/notesSlide10.xml" Id="R7f13cafd78674746"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00" name="Tag"/>
          <p:cNvSpPr txBox="1"/>
          <p:nvPr/>
        </p:nvSpPr>
        <p:spPr>
          <a:xfrm xmlns:a="http://schemas.openxmlformats.org/drawingml/2006/main">
            <a:off x="540000" y="432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7EC8E3"/>
                </a:solidFill>
              </a:rPr>
              <a:t>SDG 16 • LegalTech MVP • IBM AI Programme</a:t>
            </a:r>
          </a:p>
        </p:txBody>
      </p:sp>
      <p:sp>
        <p:nvSpPr>
          <p:cNvPr id="100001" name="Title"/>
          <p:cNvSpPr txBox="1"/>
          <p:nvPr/>
        </p:nvSpPr>
        <p:spPr>
          <a:xfrm xmlns:a="http://schemas.openxmlformats.org/drawingml/2006/main">
            <a:off x="540000" y="108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400" b="1">
                <a:solidFill>
                  <a:srgbClr val="FFFFFF"/>
                </a:solidFill>
                <a:latin typeface="Calibri"/>
                <a:ea typeface="Calibri"/>
              </a:rPr>
              <a:t>Legal Rights Navigator</a:t>
            </a:r>
          </a:p>
        </p:txBody>
      </p:sp>
      <p:sp>
        <p:nvSpPr>
          <p:cNvPr id="100002" name="Subtitle"/>
          <p:cNvSpPr txBox="1"/>
          <p:nvPr/>
        </p:nvSpPr>
        <p:spPr>
          <a:xfrm xmlns:a="http://schemas.openxmlformats.org/drawingml/2006/main">
            <a:off x="540000" y="2232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0">
                <a:solidFill>
                  <a:srgbClr val="7EC8E3"/>
                </a:solidFill>
                <a:latin typeface="Calibri"/>
                <a:ea typeface="Calibri"/>
              </a:rPr>
              <a:t>Pre-Litigation Engine</a:t>
            </a:r>
          </a:p>
        </p:txBody>
      </p:sp>
      <p:sp>
        <p:nvSpPr>
          <p:cNvPr id="100003" name="Desc"/>
          <p:cNvSpPr txBox="1"/>
          <p:nvPr/>
        </p:nvSpPr>
        <p:spPr>
          <a:xfrm xmlns:a="http://schemas.openxmlformats.org/drawingml/2006/main">
            <a:off x="540000" y="3060000"/>
            <a:ext cx="1008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D0E8FF"/>
                </a:solidFill>
              </a:rPr>
              <a:t>Converting a citizen's voice grievance into a statute-cited, law-clinic-verified legal notice — with zero hallucinated citations.</a:t>
            </a:r>
          </a:p>
        </p:txBody>
      </p:sp>
      <p:sp>
        <p:nvSpPr>
          <p:cNvPr id="100004" name="URL"/>
          <p:cNvSpPr txBox="1"/>
          <p:nvPr/>
        </p:nvSpPr>
        <p:spPr>
          <a:xfrm xmlns:a="http://schemas.openxmlformats.org/drawingml/2006/main">
            <a:off x="540000" y="576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Live Demo: ayushgadigone-del.github.io/legal-rights-navigator</a:t>
            </a:r>
          </a:p>
        </p:txBody>
      </p:sp>
    </p:spTree>
  </p:cSld>
</p:sld>
</file>

<file path=ppt/slides/slide2.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05"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01</a:t>
            </a:r>
          </a:p>
        </p:txBody>
      </p:sp>
      <p:sp>
        <p:nvSpPr>
          <p:cNvPr id="100006" name="Title"/>
          <p:cNvSpPr txBox="1"/>
          <p:nvPr/>
        </p:nvSpPr>
        <p:spPr>
          <a:xfrm xmlns:a="http://schemas.openxmlformats.org/drawingml/2006/main">
            <a:off x="540000" y="360000"/>
            <a:ext cx="72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The Problem</a:t>
            </a:r>
          </a:p>
        </p:txBody>
      </p:sp>
      <p:sp>
        <p:nvSpPr>
          <p:cNvPr id="100007"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08" name="Stat1"/>
          <p:cNvSpPr txBox="1"/>
          <p:nvPr/>
        </p:nvSpPr>
        <p:spPr>
          <a:xfrm xmlns:a="http://schemas.openxmlformats.org/drawingml/2006/main">
            <a:off x="540000" y="1368000"/>
            <a:ext cx="504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000" b="1">
                <a:solidFill>
                  <a:srgbClr val="F4C430"/>
                </a:solidFill>
              </a:rPr>
              <a:t>40 Million+</a:t>
            </a:r>
          </a:p>
        </p:txBody>
      </p:sp>
      <p:sp>
        <p:nvSpPr>
          <p:cNvPr id="100009" name="Stat1Sub"/>
          <p:cNvSpPr txBox="1"/>
          <p:nvPr/>
        </p:nvSpPr>
        <p:spPr>
          <a:xfrm xmlns:a="http://schemas.openxmlformats.org/drawingml/2006/main">
            <a:off x="540000" y="2016000"/>
            <a:ext cx="504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D0E8FF"/>
                </a:solidFill>
              </a:rPr>
              <a:t>Pending cases in Indian courts</a:t>
            </a:r>
          </a:p>
        </p:txBody>
      </p:sp>
      <p:sp>
        <p:nvSpPr>
          <p:cNvPr id="100010" name="Stat2"/>
          <p:cNvSpPr txBox="1"/>
          <p:nvPr/>
        </p:nvSpPr>
        <p:spPr>
          <a:xfrm xmlns:a="http://schemas.openxmlformats.org/drawingml/2006/main">
            <a:off x="540000" y="2520000"/>
            <a:ext cx="504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4C430"/>
                </a:solidFill>
              </a:rPr>
              <a:t>₹2,000 – ₹8,000</a:t>
            </a:r>
          </a:p>
        </p:txBody>
      </p:sp>
      <p:sp>
        <p:nvSpPr>
          <p:cNvPr id="100011" name="Stat2Sub"/>
          <p:cNvSpPr txBox="1"/>
          <p:nvPr/>
        </p:nvSpPr>
        <p:spPr>
          <a:xfrm xmlns:a="http://schemas.openxmlformats.org/drawingml/2006/main">
            <a:off x="540000" y="3168000"/>
            <a:ext cx="504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D0E8FF"/>
                </a:solidFill>
              </a:rPr>
              <a:t>Lawyer fee for a basic legal notice — unaffordable for most citizens</a:t>
            </a:r>
          </a:p>
        </p:txBody>
      </p:sp>
      <p:sp>
        <p:nvSpPr>
          <p:cNvPr id="100012" name="Body"/>
          <p:cNvSpPr txBox="1"/>
          <p:nvPr/>
        </p:nvSpPr>
        <p:spPr>
          <a:xfrm xmlns:a="http://schemas.openxmlformats.org/drawingml/2006/main">
            <a:off x="6120000" y="1260000"/>
            <a:ext cx="540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D0E8FF"/>
                </a:solidFill>
              </a:rPr>
              <a:t>3 Root Causes:</a:t>
            </a:r>
          </a:p>
          <a:p xmlns:a="http://schemas.openxmlformats.org/drawingml/2006/main">
            <a:r>
              <a:rPr lang="en-US" sz="1800">
                <a:solidFill>
                  <a:srgbClr val="D0E8FF"/>
                </a:solidFill>
              </a:rPr>
              <a:t/>
            </a:r>
          </a:p>
          <a:p xmlns:a="http://schemas.openxmlformats.org/drawingml/2006/main">
            <a:r>
              <a:rPr lang="en-US" sz="1800">
                <a:solidFill>
                  <a:srgbClr val="D0E8FF"/>
                </a:solidFill>
              </a:rPr>
              <a:t>  Cost barrier — basic legal help is unaffordable</a:t>
            </a:r>
          </a:p>
          <a:p xmlns:a="http://schemas.openxmlformats.org/drawingml/2006/main">
            <a:r>
              <a:rPr lang="en-US" sz="1800">
                <a:solidFill>
                  <a:srgbClr val="D0E8FF"/>
                </a:solidFill>
              </a:rPr>
              <a:t>  Complexity barrier — legal language is inaccessible</a:t>
            </a:r>
          </a:p>
          <a:p xmlns:a="http://schemas.openxmlformats.org/drawingml/2006/main">
            <a:r>
              <a:rPr lang="en-US" sz="1800">
                <a:solidFill>
                  <a:srgbClr val="D0E8FF"/>
                </a:solidFill>
              </a:rPr>
              <a:t>  Trust barrier — generic AI hallucinates statute citations</a:t>
            </a:r>
          </a:p>
        </p:txBody>
      </p:sp>
    </p:spTree>
  </p:cSld>
</p:sld>
</file>

<file path=ppt/slides/slide3.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13"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02</a:t>
            </a:r>
          </a:p>
        </p:txBody>
      </p:sp>
      <p:sp>
        <p:nvSpPr>
          <p:cNvPr id="100014"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Our Solution</a:t>
            </a:r>
          </a:p>
        </p:txBody>
      </p:sp>
      <p:sp>
        <p:nvSpPr>
          <p:cNvPr id="100015"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16" name="Step1"/>
          <p:cNvSpPr txBox="1"/>
          <p:nvPr/>
        </p:nvSpPr>
        <p:spPr>
          <a:xfrm xmlns:a="http://schemas.openxmlformats.org/drawingml/2006/main">
            <a:off x="540000" y="1260000"/>
            <a:ext cx="3240000" cy="144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a:solidFill>
                  <a:srgbClr val="FFFFFF"/>
                </a:solidFill>
              </a:rPr>
              <a:t>1  INTAKE</a:t>
            </a:r>
          </a:p>
          <a:p xmlns:a="http://schemas.openxmlformats.org/drawingml/2006/main">
            <a:r>
              <a:rPr lang="en-US" sz="1600">
                <a:solidFill>
                  <a:srgbClr val="FFFFFF"/>
                </a:solidFill>
              </a:rPr>
              <a:t>Citizen speaks or types grievance in Hindi or English via voice/text wizard</a:t>
            </a:r>
          </a:p>
        </p:txBody>
      </p:sp>
      <p:sp>
        <p:nvSpPr>
          <p:cNvPr id="100017" name="Step2"/>
          <p:cNvSpPr txBox="1"/>
          <p:nvPr/>
        </p:nvSpPr>
        <p:spPr>
          <a:xfrm xmlns:a="http://schemas.openxmlformats.org/drawingml/2006/main">
            <a:off x="4140000" y="1260000"/>
            <a:ext cx="3240000" cy="144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a:solidFill>
                  <a:srgbClr val="FFFFFF"/>
                </a:solidFill>
              </a:rPr>
              <a:t>2  STATUTE LOOKUP</a:t>
            </a:r>
          </a:p>
          <a:p xmlns:a="http://schemas.openxmlformats.org/drawingml/2006/main">
            <a:r>
              <a:rPr lang="en-US" sz="1600">
                <a:solidFill>
                  <a:srgbClr val="FFFFFF"/>
                </a:solidFill>
              </a:rPr>
              <a:t>MCP Server fetches verbatim law sections — LLM never invents citations</a:t>
            </a:r>
          </a:p>
        </p:txBody>
      </p:sp>
      <p:sp>
        <p:nvSpPr>
          <p:cNvPr id="100018" name="Step3"/>
          <p:cNvSpPr txBox="1"/>
          <p:nvPr/>
        </p:nvSpPr>
        <p:spPr>
          <a:xfrm xmlns:a="http://schemas.openxmlformats.org/drawingml/2006/main">
            <a:off x="7740000" y="1260000"/>
            <a:ext cx="3240000" cy="144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a:solidFill>
                  <a:srgbClr val="FFFFFF"/>
                </a:solidFill>
              </a:rPr>
              <a:t>3  NOTICE DRAFT</a:t>
            </a:r>
          </a:p>
          <a:p xmlns:a="http://schemas.openxmlformats.org/drawingml/2006/main">
            <a:r>
              <a:rPr lang="en-US" sz="1600">
                <a:solidFill>
                  <a:srgbClr val="FFFFFF"/>
                </a:solidFill>
              </a:rPr>
              <a:t>LLM drafts formal notice using only MCP-provided statute sections</a:t>
            </a:r>
          </a:p>
        </p:txBody>
      </p:sp>
      <p:sp>
        <p:nvSpPr>
          <p:cNvPr id="100019" name="Step4"/>
          <p:cNvSpPr txBox="1"/>
          <p:nvPr/>
        </p:nvSpPr>
        <p:spPr>
          <a:xfrm xmlns:a="http://schemas.openxmlformats.org/drawingml/2006/main">
            <a:off x="540000" y="3240000"/>
            <a:ext cx="3240000" cy="144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a:solidFill>
                  <a:srgbClr val="FFFFFF"/>
                </a:solidFill>
              </a:rPr>
              <a:t>4  CLINIC REVIEW</a:t>
            </a:r>
          </a:p>
          <a:p xmlns:a="http://schemas.openxmlformats.org/drawingml/2006/main">
            <a:r>
              <a:rPr lang="en-US" sz="1600">
                <a:solidFill>
                  <a:srgbClr val="FFFFFF"/>
                </a:solidFill>
              </a:rPr>
              <a:t>Law clinic student verifies &amp; approves on split-screen dashboard</a:t>
            </a:r>
          </a:p>
        </p:txBody>
      </p:sp>
      <p:sp>
        <p:nvSpPr>
          <p:cNvPr id="100020" name="Step5"/>
          <p:cNvSpPr txBox="1"/>
          <p:nvPr/>
        </p:nvSpPr>
        <p:spPr>
          <a:xfrm xmlns:a="http://schemas.openxmlformats.org/drawingml/2006/main">
            <a:off x="4140000" y="3240000"/>
            <a:ext cx="3240000" cy="144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a:solidFill>
                  <a:srgbClr val="FFFFFF"/>
                </a:solidFill>
              </a:rPr>
              <a:t>5  PDF + SETTLEMENT</a:t>
            </a:r>
          </a:p>
          <a:p xmlns:a="http://schemas.openxmlformats.org/drawingml/2006/main">
            <a:r>
              <a:rPr lang="en-US" sz="1600">
                <a:solidFill>
                  <a:srgbClr val="FFFFFF"/>
                </a:solidFill>
              </a:rPr>
              <a:t>SHA-256 tamper-evident PDF dispatched with 30-day JWT settlement portal</a:t>
            </a:r>
          </a:p>
        </p:txBody>
      </p:sp>
      <p:sp>
        <p:nvSpPr>
          <p:cNvPr id="100021" name="Key"/>
          <p:cNvSpPr txBox="1"/>
          <p:nvPr/>
        </p:nvSpPr>
        <p:spPr>
          <a:xfrm xmlns:a="http://schemas.openxmlformats.org/drawingml/2006/main">
            <a:off x="540000" y="522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F4C430"/>
                </a:solidFill>
              </a:rPr>
              <a:t>Key Guarantee: Zero hallucinated legal citations — all statute text is verbatim from verified Acts</a:t>
            </a:r>
          </a:p>
        </p:txBody>
      </p:sp>
    </p:spTree>
  </p:cSld>
</p:sld>
</file>

<file path=ppt/slides/slide4.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22"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03</a:t>
            </a:r>
          </a:p>
        </p:txBody>
      </p:sp>
      <p:sp>
        <p:nvSpPr>
          <p:cNvPr id="100023"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Technical Architecture</a:t>
            </a:r>
          </a:p>
        </p:txBody>
      </p:sp>
      <p:sp>
        <p:nvSpPr>
          <p:cNvPr id="100024"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25" name="Layer1"/>
          <p:cNvSpPr txBox="1"/>
          <p:nvPr/>
        </p:nvSpPr>
        <p:spPr>
          <a:xfrm xmlns:a="http://schemas.openxmlformats.org/drawingml/2006/main">
            <a:off x="540000" y="1152000"/>
            <a:ext cx="10800000" cy="90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a:solidFill>
                  <a:srgbClr val="FFFFFF"/>
                </a:solidFill>
              </a:rPr>
              <a:t>FRONTEND  (Next.js 14 + Tailwind CSS — GitHub Pages)</a:t>
            </a:r>
          </a:p>
          <a:p xmlns:a="http://schemas.openxmlformats.org/drawingml/2006/main">
            <a:r>
              <a:rPr lang="en-US" sz="1600">
                <a:solidFill>
                  <a:srgbClr val="FFFFFF"/>
                </a:solidFill>
              </a:rPr>
              <a:t>  Citizen Intake Wizard   |   Law Clinic Review Queue   |   Settlement Portal   |   Dashboard</a:t>
            </a:r>
          </a:p>
        </p:txBody>
      </p:sp>
      <p:sp>
        <p:nvSpPr>
          <p:cNvPr id="100026" name="Layer2"/>
          <p:cNvSpPr txBox="1"/>
          <p:nvPr/>
        </p:nvSpPr>
        <p:spPr>
          <a:xfrm xmlns:a="http://schemas.openxmlformats.org/drawingml/2006/main">
            <a:off x="540000" y="2268000"/>
            <a:ext cx="6840000" cy="900000"/>
          </a:xfrm>
          <a:prstGeom xmlns:a="http://schemas.openxmlformats.org/drawingml/2006/main" prst="rect">
            <a:avLst/>
          </a:prstGeom>
          <a:solidFill xmlns:a="http://schemas.openxmlformats.org/drawingml/2006/main">
            <a:srgbClr val="154360"/>
          </a:solidFill>
        </p:spPr>
        <p:txBody>
          <a:bodyPr xmlns:a="http://schemas.openxmlformats.org/drawingml/2006/main"/>
          <a:lstStyle xmlns:a="http://schemas.openxmlformats.org/drawingml/2006/main"/>
          <a:p xmlns:a="http://schemas.openxmlformats.org/drawingml/2006/main">
            <a:r>
              <a:rPr lang="en-US" sz="1600">
                <a:solidFill>
                  <a:srgbClr val="FFFFFF"/>
                </a:solidFill>
              </a:rPr>
              <a:t>FASTAPI BACKEND  (Python 3.14 — REST API)</a:t>
            </a:r>
          </a:p>
          <a:p xmlns:a="http://schemas.openxmlformats.org/drawingml/2006/main">
            <a:r>
              <a:rPr lang="en-US" sz="1600">
                <a:solidFill>
                  <a:srgbClr val="FFFFFF"/>
                </a:solidFill>
              </a:rPr>
              <a:t>  /intake   /notice/generate   /clinic/verify   /auth   /pdf</a:t>
            </a:r>
          </a:p>
        </p:txBody>
      </p:sp>
      <p:sp>
        <p:nvSpPr>
          <p:cNvPr id="100027" name="Layer3"/>
          <p:cNvSpPr txBox="1"/>
          <p:nvPr/>
        </p:nvSpPr>
        <p:spPr>
          <a:xfrm xmlns:a="http://schemas.openxmlformats.org/drawingml/2006/main">
            <a:off x="7740000" y="2268000"/>
            <a:ext cx="3420000" cy="900000"/>
          </a:xfrm>
          <a:prstGeom xmlns:a="http://schemas.openxmlformats.org/drawingml/2006/main" prst="rect">
            <a:avLst/>
          </a:prstGeom>
          <a:solidFill xmlns:a="http://schemas.openxmlformats.org/drawingml/2006/main">
            <a:srgbClr val="6E2C00"/>
          </a:solidFill>
        </p:spPr>
        <p:txBody>
          <a:bodyPr xmlns:a="http://schemas.openxmlformats.org/drawingml/2006/main"/>
          <a:lstStyle xmlns:a="http://schemas.openxmlformats.org/drawingml/2006/main"/>
          <a:p xmlns:a="http://schemas.openxmlformats.org/drawingml/2006/main">
            <a:r>
              <a:rPr lang="en-US" sz="1500">
                <a:solidFill>
                  <a:srgbClr val="FFFFFF"/>
                </a:solidFill>
              </a:rPr>
              <a:t>PII MASKER</a:t>
            </a:r>
          </a:p>
          <a:p xmlns:a="http://schemas.openxmlformats.org/drawingml/2006/main">
            <a:r>
              <a:rPr lang="en-US" sz="1500">
                <a:solidFill>
                  <a:srgbClr val="FFFFFF"/>
                </a:solidFill>
              </a:rPr>
              <a:t>mask before LLM</a:t>
            </a:r>
          </a:p>
          <a:p xmlns:a="http://schemas.openxmlformats.org/drawingml/2006/main">
            <a:r>
              <a:rPr lang="en-US" sz="1500">
                <a:solidFill>
                  <a:srgbClr val="FFFFFF"/>
                </a:solidFill>
              </a:rPr>
              <a:t>unmask for PDF</a:t>
            </a:r>
          </a:p>
        </p:txBody>
      </p:sp>
      <p:sp>
        <p:nvSpPr>
          <p:cNvPr id="100028" name="Layer4"/>
          <p:cNvSpPr txBox="1"/>
          <p:nvPr/>
        </p:nvSpPr>
        <p:spPr>
          <a:xfrm xmlns:a="http://schemas.openxmlformats.org/drawingml/2006/main">
            <a:off x="540000" y="3384000"/>
            <a:ext cx="4680000" cy="1080000"/>
          </a:xfrm>
          <a:prstGeom xmlns:a="http://schemas.openxmlformats.org/drawingml/2006/main" prst="rect">
            <a:avLst/>
          </a:prstGeom>
          <a:solidFill xmlns:a="http://schemas.openxmlformats.org/drawingml/2006/main">
            <a:srgbClr val="145A32"/>
          </a:solidFill>
        </p:spPr>
        <p:txBody>
          <a:bodyPr xmlns:a="http://schemas.openxmlformats.org/drawingml/2006/main"/>
          <a:lstStyle xmlns:a="http://schemas.openxmlformats.org/drawingml/2006/main"/>
          <a:p xmlns:a="http://schemas.openxmlformats.org/drawingml/2006/main">
            <a:r>
              <a:rPr lang="en-US" sz="1500">
                <a:solidFill>
                  <a:srgbClr val="FFFFFF"/>
                </a:solidFill>
              </a:rPr>
              <a:t>LLM SERVICE  (Ollama / OpenAI)</a:t>
            </a:r>
          </a:p>
          <a:p xmlns:a="http://schemas.openxmlformats.org/drawingml/2006/main">
            <a:r>
              <a:rPr lang="en-US" sz="1500">
                <a:solidFill>
                  <a:srgbClr val="FFFFFF"/>
                </a:solidFill>
              </a:rPr>
              <a:t>Mistral 7B local — zero cost</a:t>
            </a:r>
          </a:p>
          <a:p xmlns:a="http://schemas.openxmlformats.org/drawingml/2006/main">
            <a:r>
              <a:rPr lang="en-US" sz="1500">
                <a:solidFill>
                  <a:srgbClr val="FFFFFF"/>
                </a:solidFill>
              </a:rPr>
              <a:t>GPT-4o mini via config switch</a:t>
            </a:r>
          </a:p>
        </p:txBody>
      </p:sp>
      <p:sp>
        <p:nvSpPr>
          <p:cNvPr id="100029" name="Layer5"/>
          <p:cNvSpPr txBox="1"/>
          <p:nvPr/>
        </p:nvSpPr>
        <p:spPr>
          <a:xfrm xmlns:a="http://schemas.openxmlformats.org/drawingml/2006/main">
            <a:off x="5580000" y="3384000"/>
            <a:ext cx="5580000" cy="1080000"/>
          </a:xfrm>
          <a:prstGeom xmlns:a="http://schemas.openxmlformats.org/drawingml/2006/main" prst="rect">
            <a:avLst/>
          </a:prstGeom>
          <a:solidFill xmlns:a="http://schemas.openxmlformats.org/drawingml/2006/main">
            <a:srgbClr val="4A235A"/>
          </a:solidFill>
        </p:spPr>
        <p:txBody>
          <a:bodyPr xmlns:a="http://schemas.openxmlformats.org/drawingml/2006/main"/>
          <a:lstStyle xmlns:a="http://schemas.openxmlformats.org/drawingml/2006/main"/>
          <a:p xmlns:a="http://schemas.openxmlformats.org/drawingml/2006/main">
            <a:r>
              <a:rPr lang="en-US" sz="1500">
                <a:solidFill>
                  <a:srgbClr val="FFFFFF"/>
                </a:solidFill>
              </a:rPr>
              <a:t>MCP STATUTE SERVER</a:t>
            </a:r>
          </a:p>
          <a:p xmlns:a="http://schemas.openxmlformats.org/drawingml/2006/main">
            <a:r>
              <a:rPr lang="en-US" sz="1500">
                <a:solidFill>
                  <a:srgbClr val="FFFFFF"/>
                </a:solidFill>
              </a:rPr>
              <a:t>search_applicable_laws()</a:t>
            </a:r>
          </a:p>
          <a:p xmlns:a="http://schemas.openxmlformats.org/drawingml/2006/main">
            <a:r>
              <a:rPr lang="en-US" sz="1500">
                <a:solidFill>
                  <a:srgbClr val="FFFFFF"/>
                </a:solidFill>
              </a:rPr>
              <a:t>validate_notice_citations()</a:t>
            </a:r>
          </a:p>
          <a:p xmlns:a="http://schemas.openxmlformats.org/drawingml/2006/main">
            <a:r>
              <a:rPr lang="en-US" sz="1500">
                <a:solidFill>
                  <a:srgbClr val="FFFFFF"/>
                </a:solidFill>
              </a:rPr>
              <a:t>34 provisions — 4 Acts</a:t>
            </a:r>
          </a:p>
        </p:txBody>
      </p:sp>
      <p:sp>
        <p:nvSpPr>
          <p:cNvPr id="100030" name="Layer6"/>
          <p:cNvSpPr txBox="1"/>
          <p:nvPr/>
        </p:nvSpPr>
        <p:spPr>
          <a:xfrm xmlns:a="http://schemas.openxmlformats.org/drawingml/2006/main">
            <a:off x="540000" y="4680000"/>
            <a:ext cx="10800000" cy="648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500">
                <a:solidFill>
                  <a:srgbClr val="D0E8FF"/>
                </a:solidFill>
              </a:rPr>
              <a:t>SQLite / PostgreSQL  |  statutes.json (corpus)  |  PDF files (SHA-256)</a:t>
            </a:r>
          </a:p>
        </p:txBody>
      </p:sp>
    </p:spTree>
  </p:cSld>
</p:sld>
</file>

<file path=ppt/slides/slide5.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31"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04</a:t>
            </a:r>
          </a:p>
        </p:txBody>
      </p:sp>
      <p:sp>
        <p:nvSpPr>
          <p:cNvPr id="100032"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FFFFFF"/>
                </a:solidFill>
              </a:rPr>
              <a:t>Anti-Hallucination: The MCP Statute Server</a:t>
            </a:r>
          </a:p>
        </p:txBody>
      </p:sp>
      <p:sp>
        <p:nvSpPr>
          <p:cNvPr id="100033"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34" name="Problem"/>
          <p:cNvSpPr txBox="1"/>
          <p:nvPr/>
        </p:nvSpPr>
        <p:spPr>
          <a:xfrm xmlns:a="http://schemas.openxmlformats.org/drawingml/2006/main">
            <a:off x="540000" y="1152000"/>
            <a:ext cx="5040000" cy="1620000"/>
          </a:xfrm>
          <a:prstGeom xmlns:a="http://schemas.openxmlformats.org/drawingml/2006/main" prst="rect">
            <a:avLst/>
          </a:prstGeom>
          <a:solidFill xmlns:a="http://schemas.openxmlformats.org/drawingml/2006/main">
            <a:srgbClr val="6E2C00"/>
          </a:solidFill>
        </p:spPr>
        <p:txBody>
          <a:bodyPr xmlns:a="http://schemas.openxmlformats.org/drawingml/2006/main"/>
          <a:lstStyle xmlns:a="http://schemas.openxmlformats.org/drawingml/2006/main"/>
          <a:p xmlns:a="http://schemas.openxmlformats.org/drawingml/2006/main">
            <a:r>
              <a:rPr lang="en-US" sz="1700">
                <a:solidFill>
                  <a:srgbClr val="FFFFFF"/>
                </a:solidFill>
              </a:rPr>
              <a:t>The Problem with LLMs + Law</a:t>
            </a:r>
          </a:p>
          <a:p xmlns:a="http://schemas.openxmlformats.org/drawingml/2006/main">
            <a:r>
              <a:rPr lang="en-US" sz="1700">
                <a:solidFill>
                  <a:srgbClr val="FFFFFF"/>
                </a:solidFill>
              </a:rPr>
              <a:t/>
            </a:r>
          </a:p>
          <a:p xmlns:a="http://schemas.openxmlformats.org/drawingml/2006/main">
            <a:r>
              <a:rPr lang="en-US" sz="1700">
                <a:solidFill>
                  <a:srgbClr val="FFFFFF"/>
                </a:solidFill>
              </a:rPr>
              <a:t>LLMs confidently hallucinate section numbers, act names, and penalties that do not exist — making them dangerous for legal use without grounding.</a:t>
            </a:r>
          </a:p>
        </p:txBody>
      </p:sp>
      <p:sp>
        <p:nvSpPr>
          <p:cNvPr id="100035" name="Solution"/>
          <p:cNvSpPr txBox="1"/>
          <p:nvPr/>
        </p:nvSpPr>
        <p:spPr>
          <a:xfrm xmlns:a="http://schemas.openxmlformats.org/drawingml/2006/main">
            <a:off x="6120000" y="1152000"/>
            <a:ext cx="5040000" cy="1620000"/>
          </a:xfrm>
          <a:prstGeom xmlns:a="http://schemas.openxmlformats.org/drawingml/2006/main" prst="rect">
            <a:avLst/>
          </a:prstGeom>
          <a:solidFill xmlns:a="http://schemas.openxmlformats.org/drawingml/2006/main">
            <a:srgbClr val="145A32"/>
          </a:solidFill>
        </p:spPr>
        <p:txBody>
          <a:bodyPr xmlns:a="http://schemas.openxmlformats.org/drawingml/2006/main"/>
          <a:lstStyle xmlns:a="http://schemas.openxmlformats.org/drawingml/2006/main"/>
          <a:p xmlns:a="http://schemas.openxmlformats.org/drawingml/2006/main">
            <a:r>
              <a:rPr lang="en-US" sz="1700">
                <a:solidFill>
                  <a:srgbClr val="FFFFFF"/>
                </a:solidFill>
              </a:rPr>
              <a:t>Our Solution: Deterministic Citation Layer</a:t>
            </a:r>
          </a:p>
          <a:p xmlns:a="http://schemas.openxmlformats.org/drawingml/2006/main">
            <a:r>
              <a:rPr lang="en-US" sz="1700">
                <a:solidFill>
                  <a:srgbClr val="FFFFFF"/>
                </a:solidFill>
              </a:rPr>
              <a:t/>
            </a:r>
          </a:p>
          <a:p xmlns:a="http://schemas.openxmlformats.org/drawingml/2006/main">
            <a:r>
              <a:rPr lang="en-US" sz="1700">
                <a:solidFill>
                  <a:srgbClr val="FFFFFF"/>
                </a:solidFill>
              </a:rPr>
              <a:t>The LLM is never asked to recall statute text. Every citation flows through the MCP server, which searches a curated 34-provision corpus of verified Act text.</a:t>
            </a:r>
          </a:p>
        </p:txBody>
      </p:sp>
      <p:sp>
        <p:nvSpPr>
          <p:cNvPr id="100036" name="Tools"/>
          <p:cNvSpPr txBox="1"/>
          <p:nvPr/>
        </p:nvSpPr>
        <p:spPr>
          <a:xfrm xmlns:a="http://schemas.openxmlformats.org/drawingml/2006/main">
            <a:off x="540000" y="3060000"/>
            <a:ext cx="10800000" cy="180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700">
                <a:solidFill>
                  <a:srgbClr val="D0E8FF"/>
                </a:solidFill>
              </a:rPr>
              <a:t>MCP Tool 1: search_applicable_laws(query, dispute_type, top_k)</a:t>
            </a:r>
          </a:p>
          <a:p xmlns:a="http://schemas.openxmlformats.org/drawingml/2006/main">
            <a:r>
              <a:rPr lang="en-US" sz="1700">
                <a:solidFill>
                  <a:srgbClr val="D0E8FF"/>
                </a:solidFill>
              </a:rPr>
              <a:t>  → BM25-style keyword scoring across 34 provisions</a:t>
            </a:r>
          </a:p>
          <a:p xmlns:a="http://schemas.openxmlformats.org/drawingml/2006/main">
            <a:r>
              <a:rPr lang="en-US" sz="1700">
                <a:solidFill>
                  <a:srgbClr val="D0E8FF"/>
                </a:solidFill>
              </a:rPr>
              <a:t>  → Returns verbatim section text, penalty, forum, notice period</a:t>
            </a:r>
          </a:p>
          <a:p xmlns:a="http://schemas.openxmlformats.org/drawingml/2006/main">
            <a:r>
              <a:rPr lang="en-US" sz="1700">
                <a:solidFill>
                  <a:srgbClr val="D0E8FF"/>
                </a:solidFill>
              </a:rPr>
              <a:t/>
            </a:r>
          </a:p>
          <a:p xmlns:a="http://schemas.openxmlformats.org/drawingml/2006/main">
            <a:r>
              <a:rPr lang="en-US" sz="1700">
                <a:solidFill>
                  <a:srgbClr val="D0E8FF"/>
                </a:solidFill>
              </a:rPr>
              <a:t>MCP Tool 2: validate_notice_citations(notice_text)</a:t>
            </a:r>
          </a:p>
          <a:p xmlns:a="http://schemas.openxmlformats.org/drawingml/2006/main">
            <a:r>
              <a:rPr lang="en-US" sz="1700">
                <a:solidFill>
                  <a:srgbClr val="D0E8FF"/>
                </a:solidFill>
              </a:rPr>
              <a:t>  → Verifies every citation in the draft exists in the corpus</a:t>
            </a:r>
          </a:p>
          <a:p xmlns:a="http://schemas.openxmlformats.org/drawingml/2006/main">
            <a:r>
              <a:rPr lang="en-US" sz="1700">
                <a:solidFill>
                  <a:srgbClr val="D0E8FF"/>
                </a:solidFill>
              </a:rPr>
              <a:t>  → Re-drafts up to 2× if invalid citations detected</a:t>
            </a:r>
          </a:p>
        </p:txBody>
      </p:sp>
      <p:sp>
        <p:nvSpPr>
          <p:cNvPr id="100037" name="Acts"/>
          <p:cNvSpPr txBox="1"/>
          <p:nvPr/>
        </p:nvSpPr>
        <p:spPr>
          <a:xfrm xmlns:a="http://schemas.openxmlformats.org/drawingml/2006/main">
            <a:off x="540000" y="5112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7EC8E3"/>
                </a:solidFill>
              </a:rPr>
              <a:t>Corpus: Consumer Protection Act 2019  •  Payment of Wages Act 1936  •  Industrial Relations Code 2020  •  Model Tenancy Act 2021  →  34 Provisions</a:t>
            </a:r>
          </a:p>
        </p:txBody>
      </p:sp>
    </p:spTree>
  </p:cSld>
</p:sld>
</file>

<file path=ppt/slides/slide6.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38"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05</a:t>
            </a:r>
          </a:p>
        </p:txBody>
      </p:sp>
      <p:sp>
        <p:nvSpPr>
          <p:cNvPr id="10003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FFFFFF"/>
                </a:solidFill>
              </a:rPr>
              <a:t>Security &amp; Privacy: PII Masking Pipeline</a:t>
            </a:r>
          </a:p>
        </p:txBody>
      </p:sp>
      <p:sp>
        <p:nvSpPr>
          <p:cNvPr id="100040"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41" name="Flow"/>
          <p:cNvSpPr txBox="1"/>
          <p:nvPr/>
        </p:nvSpPr>
        <p:spPr>
          <a:xfrm xmlns:a="http://schemas.openxmlformats.org/drawingml/2006/main">
            <a:off x="540000" y="1152000"/>
            <a:ext cx="10800000" cy="252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600">
                <a:solidFill>
                  <a:srgbClr val="D0E8FF"/>
                </a:solidFill>
              </a:rPr>
              <a:t>Raw Facts (Phone  •  Aadhaar  •  PAN  •  Bank Account  •  UPI  •  Email)</a:t>
            </a:r>
          </a:p>
          <a:p xmlns:a="http://schemas.openxmlformats.org/drawingml/2006/main">
            <a:r>
              <a:rPr lang="en-US" sz="1600">
                <a:solidFill>
                  <a:srgbClr val="D0E8FF"/>
                </a:solidFill>
              </a:rPr>
              <a:t/>
            </a:r>
          </a:p>
          <a:p xmlns:a="http://schemas.openxmlformats.org/drawingml/2006/main">
            <a:r>
              <a:rPr lang="en-US" sz="1600">
                <a:solidFill>
                  <a:srgbClr val="D0E8FF"/>
                </a:solidFill>
              </a:rPr>
              <a:t>          mask_dict(facts, pii_store)   ← per-request, stack-only, never persisted</a:t>
            </a:r>
          </a:p>
          <a:p xmlns:a="http://schemas.openxmlformats.org/drawingml/2006/main">
            <a:r>
              <a:rPr lang="en-US" sz="1600">
                <a:solidFill>
                  <a:srgbClr val="D0E8FF"/>
                </a:solidFill>
              </a:rPr>
              <a:t>                    ↓</a:t>
            </a:r>
          </a:p>
          <a:p xmlns:a="http://schemas.openxmlformats.org/drawingml/2006/main">
            <a:r>
              <a:rPr lang="en-US" sz="1600">
                <a:solidFill>
                  <a:srgbClr val="D0E8FF"/>
                </a:solidFill>
              </a:rPr>
              <a:t>Safe Facts  ──►  LLM Prompt  ──►  LLM Draft (tokens: &lt;&lt;PHONE_1&gt;&gt;, &lt;&lt;AADHAAR_1&gt;&gt;)</a:t>
            </a:r>
          </a:p>
          <a:p xmlns:a="http://schemas.openxmlformats.org/drawingml/2006/main">
            <a:r>
              <a:rPr lang="en-US" sz="1600">
                <a:solidFill>
                  <a:srgbClr val="D0E8FF"/>
                </a:solidFill>
              </a:rPr>
              <a:t>                    ↓</a:t>
            </a:r>
          </a:p>
          <a:p xmlns:a="http://schemas.openxmlformats.org/drawingml/2006/main">
            <a:r>
              <a:rPr lang="en-US" sz="1600">
                <a:solidFill>
                  <a:srgbClr val="D0E8FF"/>
                </a:solidFill>
              </a:rPr>
              <a:t>          unmask_pii(draft, pii_store)   ← re-hydration before DB store</a:t>
            </a:r>
          </a:p>
          <a:p xmlns:a="http://schemas.openxmlformats.org/drawingml/2006/main">
            <a:r>
              <a:rPr lang="en-US" sz="1600">
                <a:solidFill>
                  <a:srgbClr val="D0E8FF"/>
                </a:solidFill>
              </a:rPr>
              <a:t>                    ↓</a:t>
            </a:r>
          </a:p>
          <a:p xmlns:a="http://schemas.openxmlformats.org/drawingml/2006/main">
            <a:r>
              <a:rPr lang="en-US" sz="1600">
                <a:solidFill>
                  <a:srgbClr val="D0E8FF"/>
                </a:solidFill>
              </a:rPr>
              <a:t>Final Notice (real names restored)  ──►  Clinic Review  ──►  PDF</a:t>
            </a:r>
          </a:p>
        </p:txBody>
      </p:sp>
      <p:sp>
        <p:nvSpPr>
          <p:cNvPr id="100042" name="RBAC"/>
          <p:cNvSpPr txBox="1"/>
          <p:nvPr/>
        </p:nvSpPr>
        <p:spPr>
          <a:xfrm xmlns:a="http://schemas.openxmlformats.org/drawingml/2006/main">
            <a:off x="540000" y="3960000"/>
            <a:ext cx="6840000" cy="1620000"/>
          </a:xfrm>
          <a:prstGeom xmlns:a="http://schemas.openxmlformats.org/drawingml/2006/main" prst="rect">
            <a:avLst/>
          </a:prstGeom>
          <a:solidFill xmlns:a="http://schemas.openxmlformats.org/drawingml/2006/main">
            <a:srgbClr val="154360"/>
          </a:solidFill>
        </p:spPr>
        <p:txBody>
          <a:bodyPr xmlns:a="http://schemas.openxmlformats.org/drawingml/2006/main"/>
          <a:lstStyle xmlns:a="http://schemas.openxmlformats.org/drawingml/2006/main"/>
          <a:p xmlns:a="http://schemas.openxmlformats.org/drawingml/2006/main">
            <a:r>
              <a:rPr lang="en-US" sz="1600">
                <a:solidFill>
                  <a:srgbClr val="FFFFFF"/>
                </a:solidFill>
              </a:rPr>
              <a:t>Role-Based Access Control</a:t>
            </a:r>
          </a:p>
          <a:p xmlns:a="http://schemas.openxmlformats.org/drawingml/2006/main">
            <a:r>
              <a:rPr lang="en-US" sz="1600">
                <a:solidFill>
                  <a:srgbClr val="FFFFFF"/>
                </a:solidFill>
              </a:rPr>
              <a:t/>
            </a:r>
          </a:p>
          <a:p xmlns:a="http://schemas.openxmlformats.org/drawingml/2006/main">
            <a:r>
              <a:rPr lang="en-US" sz="1600">
                <a:solidFill>
                  <a:srgbClr val="FFFFFF"/>
                </a:solidFill>
              </a:rPr>
              <a:t>  Public:     POST /intake/message   POST /notice/generate</a:t>
            </a:r>
          </a:p>
          <a:p xmlns:a="http://schemas.openxmlformats.org/drawingml/2006/main">
            <a:r>
              <a:rPr lang="en-US" sz="1600">
                <a:solidFill>
                  <a:srgbClr val="FFFFFF"/>
                </a:solidFill>
              </a:rPr>
              <a:t>  Reviewer:   PATCH /clinic/verify/{id}   GET /clinic/notice/{id}/pdf</a:t>
            </a:r>
          </a:p>
          <a:p xmlns:a="http://schemas.openxmlformats.org/drawingml/2006/main">
            <a:r>
              <a:rPr lang="en-US" sz="1600">
                <a:solidFill>
                  <a:srgbClr val="FFFFFF"/>
                </a:solidFill>
              </a:rPr>
              <a:t>  Auth:        PBKDF2-HMAC-SHA256 passwords   •   HS256 JWT 8-hour tokens</a:t>
            </a:r>
          </a:p>
        </p:txBody>
      </p:sp>
      <p:sp>
        <p:nvSpPr>
          <p:cNvPr id="100043" name="Tests"/>
          <p:cNvSpPr txBox="1"/>
          <p:nvPr/>
        </p:nvSpPr>
        <p:spPr>
          <a:xfrm xmlns:a="http://schemas.openxmlformats.org/drawingml/2006/main">
            <a:off x="7740000" y="3960000"/>
            <a:ext cx="3600000" cy="1620000"/>
          </a:xfrm>
          <a:prstGeom xmlns:a="http://schemas.openxmlformats.org/drawingml/2006/main" prst="rect">
            <a:avLst/>
          </a:prstGeom>
          <a:solidFill xmlns:a="http://schemas.openxmlformats.org/drawingml/2006/main">
            <a:srgbClr val="145A32"/>
          </a:solidFill>
        </p:spPr>
        <p:txBody>
          <a:bodyPr xmlns:a="http://schemas.openxmlformats.org/drawingml/2006/main"/>
          <a:lstStyle xmlns:a="http://schemas.openxmlformats.org/drawingml/2006/main"/>
          <a:p xmlns:a="http://schemas.openxmlformats.org/drawingml/2006/main">
            <a:r>
              <a:rPr lang="en-US" sz="1500">
                <a:solidFill>
                  <a:srgbClr val="FFFFFF"/>
                </a:solidFill>
              </a:rPr>
              <a:t>53 Security Tests</a:t>
            </a:r>
          </a:p>
          <a:p xmlns:a="http://schemas.openxmlformats.org/drawingml/2006/main">
            <a:r>
              <a:rPr lang="en-US" sz="1500">
                <a:solidFill>
                  <a:srgbClr val="FFFFFF"/>
                </a:solidFill>
              </a:rPr>
              <a:t/>
            </a:r>
          </a:p>
          <a:p xmlns:a="http://schemas.openxmlformats.org/drawingml/2006/main">
            <a:r>
              <a:rPr lang="en-US" sz="1500">
                <a:solidFill>
                  <a:srgbClr val="FFFFFF"/>
                </a:solidFill>
              </a:rPr>
              <a:t>  All 6 PII types</a:t>
            </a:r>
          </a:p>
          <a:p xmlns:a="http://schemas.openxmlformats.org/drawingml/2006/main">
            <a:r>
              <a:rPr lang="en-US" sz="1500">
                <a:solidFill>
                  <a:srgbClr val="FFFFFF"/>
                </a:solidFill>
              </a:rPr>
              <a:t>  Round-trip fidelity</a:t>
            </a:r>
          </a:p>
          <a:p xmlns:a="http://schemas.openxmlformats.org/drawingml/2006/main">
            <a:r>
              <a:rPr lang="en-US" sz="1500">
                <a:solidFill>
                  <a:srgbClr val="FFFFFF"/>
                </a:solidFill>
              </a:rPr>
              <a:t>  LLM prompt safety</a:t>
            </a:r>
          </a:p>
          <a:p xmlns:a="http://schemas.openxmlformats.org/drawingml/2006/main">
            <a:r>
              <a:rPr lang="en-US" sz="1500">
                <a:solidFill>
                  <a:srgbClr val="FFFFFF"/>
                </a:solidFill>
              </a:rPr>
              <a:t>  RBAC enforcement</a:t>
            </a:r>
          </a:p>
          <a:p xmlns:a="http://schemas.openxmlformats.org/drawingml/2006/main">
            <a:r>
              <a:rPr lang="en-US" sz="1500">
                <a:solidFill>
                  <a:srgbClr val="FFFFFF"/>
                </a:solidFill>
              </a:rPr>
              <a:t>  Wrong-key JWT rejection</a:t>
            </a:r>
          </a:p>
        </p:txBody>
      </p:sp>
    </p:spTree>
  </p:cSld>
</p:sld>
</file>

<file path=ppt/slides/slide7.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44"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06</a:t>
            </a:r>
          </a:p>
        </p:txBody>
      </p:sp>
      <p:sp>
        <p:nvSpPr>
          <p:cNvPr id="100045"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Four Role Views</a:t>
            </a:r>
          </a:p>
        </p:txBody>
      </p:sp>
      <p:sp>
        <p:nvSpPr>
          <p:cNvPr id="100046"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47" name="Role1"/>
          <p:cNvSpPr txBox="1"/>
          <p:nvPr/>
        </p:nvSpPr>
        <p:spPr>
          <a:xfrm xmlns:a="http://schemas.openxmlformats.org/drawingml/2006/main">
            <a:off x="540000" y="1152000"/>
            <a:ext cx="5040000" cy="216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a:solidFill>
                  <a:srgbClr val="FFFFFF"/>
                </a:solidFill>
              </a:rPr>
              <a:t>Citizen Intake Wizard</a:t>
            </a:r>
          </a:p>
          <a:p xmlns:a="http://schemas.openxmlformats.org/drawingml/2006/main">
            <a:r>
              <a:rPr lang="en-US" sz="1600">
                <a:solidFill>
                  <a:srgbClr val="FFFFFF"/>
                </a:solidFill>
              </a:rPr>
              <a:t/>
            </a:r>
          </a:p>
          <a:p xmlns:a="http://schemas.openxmlformats.org/drawingml/2006/main">
            <a:r>
              <a:rPr lang="en-US" sz="1600">
                <a:solidFill>
                  <a:srgbClr val="FFFFFF"/>
                </a:solidFill>
              </a:rPr>
              <a:t>  Voice input (Hindi / English)</a:t>
            </a:r>
          </a:p>
          <a:p xmlns:a="http://schemas.openxmlformats.org/drawingml/2006/main">
            <a:r>
              <a:rPr lang="en-US" sz="1600">
                <a:solidFill>
                  <a:srgbClr val="FFFFFF"/>
                </a:solidFill>
              </a:rPr>
              <a:t>  Real-time transcript editing</a:t>
            </a:r>
          </a:p>
          <a:p xmlns:a="http://schemas.openxmlformats.org/drawingml/2006/main">
            <a:r>
              <a:rPr lang="en-US" sz="1600">
                <a:solidFill>
                  <a:srgbClr val="FFFFFF"/>
                </a:solidFill>
              </a:rPr>
              <a:t>  3 sample case templates</a:t>
            </a:r>
          </a:p>
          <a:p xmlns:a="http://schemas.openxmlformats.org/drawingml/2006/main">
            <a:r>
              <a:rPr lang="en-US" sz="1600">
                <a:solidFill>
                  <a:srgbClr val="FFFFFF"/>
                </a:solidFill>
              </a:rPr>
              <a:t>  Offline demo mode — no backend</a:t>
            </a:r>
          </a:p>
          <a:p xmlns:a="http://schemas.openxmlformats.org/drawingml/2006/main">
            <a:r>
              <a:rPr lang="en-US" sz="1600">
                <a:solidFill>
                  <a:srgbClr val="FFFFFF"/>
                </a:solidFill>
              </a:rPr>
              <a:t>  Conversational follow-up questions</a:t>
            </a:r>
          </a:p>
        </p:txBody>
      </p:sp>
      <p:sp>
        <p:nvSpPr>
          <p:cNvPr id="100048" name="Role2"/>
          <p:cNvSpPr txBox="1"/>
          <p:nvPr/>
        </p:nvSpPr>
        <p:spPr>
          <a:xfrm xmlns:a="http://schemas.openxmlformats.org/drawingml/2006/main">
            <a:off x="6120000" y="1152000"/>
            <a:ext cx="5040000" cy="2160000"/>
          </a:xfrm>
          <a:prstGeom xmlns:a="http://schemas.openxmlformats.org/drawingml/2006/main" prst="rect">
            <a:avLst/>
          </a:prstGeom>
          <a:solidFill xmlns:a="http://schemas.openxmlformats.org/drawingml/2006/main">
            <a:srgbClr val="154360"/>
          </a:solidFill>
        </p:spPr>
        <p:txBody>
          <a:bodyPr xmlns:a="http://schemas.openxmlformats.org/drawingml/2006/main"/>
          <a:lstStyle xmlns:a="http://schemas.openxmlformats.org/drawingml/2006/main"/>
          <a:p xmlns:a="http://schemas.openxmlformats.org/drawingml/2006/main">
            <a:r>
              <a:rPr lang="en-US" sz="1600">
                <a:solidFill>
                  <a:srgbClr val="FFFFFF"/>
                </a:solidFill>
              </a:rPr>
              <a:t>Law Clinic Review Queue</a:t>
            </a:r>
          </a:p>
          <a:p xmlns:a="http://schemas.openxmlformats.org/drawingml/2006/main">
            <a:r>
              <a:rPr lang="en-US" sz="1600">
                <a:solidFill>
                  <a:srgbClr val="FFFFFF"/>
                </a:solidFill>
              </a:rPr>
              <a:t/>
            </a:r>
          </a:p>
          <a:p xmlns:a="http://schemas.openxmlformats.org/drawingml/2006/main">
            <a:r>
              <a:rPr lang="en-US" sz="1600">
                <a:solidFill>
                  <a:srgbClr val="FFFFFF"/>
                </a:solidFill>
              </a:rPr>
              <a:t>  JWT-authenticated login</a:t>
            </a:r>
          </a:p>
          <a:p xmlns:a="http://schemas.openxmlformats.org/drawingml/2006/main">
            <a:r>
              <a:rPr lang="en-US" sz="1600">
                <a:solidFill>
                  <a:srgbClr val="FFFFFF"/>
                </a:solidFill>
              </a:rPr>
              <a:t>  Split-screen notice editor</a:t>
            </a:r>
          </a:p>
          <a:p xmlns:a="http://schemas.openxmlformats.org/drawingml/2006/main">
            <a:r>
              <a:rPr lang="en-US" sz="1600">
                <a:solidFill>
                  <a:srgbClr val="FFFFFF"/>
                </a:solidFill>
              </a:rPr>
              <a:t>  Green statute badge pills</a:t>
            </a:r>
          </a:p>
          <a:p xmlns:a="http://schemas.openxmlformats.org/drawingml/2006/main">
            <a:r>
              <a:rPr lang="en-US" sz="1600">
                <a:solidFill>
                  <a:srgbClr val="FFFFFF"/>
                </a:solidFill>
              </a:rPr>
              <a:t>  Approve with edits / Reject with notes</a:t>
            </a:r>
          </a:p>
          <a:p xmlns:a="http://schemas.openxmlformats.org/drawingml/2006/main">
            <a:r>
              <a:rPr lang="en-US" sz="1600">
                <a:solidFill>
                  <a:srgbClr val="FFFFFF"/>
                </a:solidFill>
              </a:rPr>
              <a:t>  Triggers SHA-256 PDF on approval</a:t>
            </a:r>
          </a:p>
        </p:txBody>
      </p:sp>
      <p:sp>
        <p:nvSpPr>
          <p:cNvPr id="100049" name="Role3"/>
          <p:cNvSpPr txBox="1"/>
          <p:nvPr/>
        </p:nvSpPr>
        <p:spPr>
          <a:xfrm xmlns:a="http://schemas.openxmlformats.org/drawingml/2006/main">
            <a:off x="540000" y="3600000"/>
            <a:ext cx="5040000" cy="1980000"/>
          </a:xfrm>
          <a:prstGeom xmlns:a="http://schemas.openxmlformats.org/drawingml/2006/main" prst="rect">
            <a:avLst/>
          </a:prstGeom>
          <a:solidFill xmlns:a="http://schemas.openxmlformats.org/drawingml/2006/main">
            <a:srgbClr val="4A235A"/>
          </a:solidFill>
        </p:spPr>
        <p:txBody>
          <a:bodyPr xmlns:a="http://schemas.openxmlformats.org/drawingml/2006/main"/>
          <a:lstStyle xmlns:a="http://schemas.openxmlformats.org/drawingml/2006/main"/>
          <a:p xmlns:a="http://schemas.openxmlformats.org/drawingml/2006/main">
            <a:r>
              <a:rPr lang="en-US" sz="1600">
                <a:solidFill>
                  <a:srgbClr val="FFFFFF"/>
                </a:solidFill>
              </a:rPr>
              <a:t>Settlement Resolution Portal</a:t>
            </a:r>
          </a:p>
          <a:p xmlns:a="http://schemas.openxmlformats.org/drawingml/2006/main">
            <a:r>
              <a:rPr lang="en-US" sz="1600">
                <a:solidFill>
                  <a:srgbClr val="FFFFFF"/>
                </a:solidFill>
              </a:rPr>
              <a:t/>
            </a:r>
          </a:p>
          <a:p xmlns:a="http://schemas.openxmlformats.org/drawingml/2006/main">
            <a:r>
              <a:rPr lang="en-US" sz="1600">
                <a:solidFill>
                  <a:srgbClr val="FFFFFF"/>
                </a:solidFill>
              </a:rPr>
              <a:t>  JWT-signed URL (30-day expiry)</a:t>
            </a:r>
          </a:p>
          <a:p xmlns:a="http://schemas.openxmlformats.org/drawingml/2006/main">
            <a:r>
              <a:rPr lang="en-US" sz="1600">
                <a:solidFill>
                  <a:srgbClr val="FFFFFF"/>
                </a:solidFill>
              </a:rPr>
              <a:t>  7-day countdown timer</a:t>
            </a:r>
          </a:p>
          <a:p xmlns:a="http://schemas.openxmlformats.org/drawingml/2006/main">
            <a:r>
              <a:rPr lang="en-US" sz="1600">
                <a:solidFill>
                  <a:srgbClr val="FFFFFF"/>
                </a:solidFill>
              </a:rPr>
              <a:t>  4 resolution options</a:t>
            </a:r>
          </a:p>
          <a:p xmlns:a="http://schemas.openxmlformats.org/drawingml/2006/main">
            <a:r>
              <a:rPr lang="en-US" sz="1600">
                <a:solidFill>
                  <a:srgbClr val="FFFFFF"/>
                </a:solidFill>
              </a:rPr>
              <a:t>  Opposing party self-service response</a:t>
            </a:r>
          </a:p>
        </p:txBody>
      </p:sp>
      <p:sp>
        <p:nvSpPr>
          <p:cNvPr id="100050" name="Role4"/>
          <p:cNvSpPr txBox="1"/>
          <p:nvPr/>
        </p:nvSpPr>
        <p:spPr>
          <a:xfrm xmlns:a="http://schemas.openxmlformats.org/drawingml/2006/main">
            <a:off x="6120000" y="3600000"/>
            <a:ext cx="5040000" cy="1980000"/>
          </a:xfrm>
          <a:prstGeom xmlns:a="http://schemas.openxmlformats.org/drawingml/2006/main" prst="rect">
            <a:avLst/>
          </a:prstGeom>
          <a:solidFill xmlns:a="http://schemas.openxmlformats.org/drawingml/2006/main">
            <a:srgbClr val="145A32"/>
          </a:solidFill>
        </p:spPr>
        <p:txBody>
          <a:bodyPr xmlns:a="http://schemas.openxmlformats.org/drawingml/2006/main"/>
          <a:lstStyle xmlns:a="http://schemas.openxmlformats.org/drawingml/2006/main"/>
          <a:p xmlns:a="http://schemas.openxmlformats.org/drawingml/2006/main">
            <a:r>
              <a:rPr lang="en-US" sz="1600">
                <a:solidFill>
                  <a:srgbClr val="FFFFFF"/>
                </a:solidFill>
              </a:rPr>
              <a:t>SDG Metrics Dashboard</a:t>
            </a:r>
          </a:p>
          <a:p xmlns:a="http://schemas.openxmlformats.org/drawingml/2006/main">
            <a:r>
              <a:rPr lang="en-US" sz="1600">
                <a:solidFill>
                  <a:srgbClr val="FFFFFF"/>
                </a:solidFill>
              </a:rPr>
              <a:t/>
            </a:r>
          </a:p>
          <a:p xmlns:a="http://schemas.openxmlformats.org/drawingml/2006/main">
            <a:r>
              <a:rPr lang="en-US" sz="1600">
                <a:solidFill>
                  <a:srgbClr val="FFFFFF"/>
                </a:solidFill>
              </a:rPr>
              <a:t>  Cost per notice tracker</a:t>
            </a:r>
          </a:p>
          <a:p xmlns:a="http://schemas.openxmlformats.org/drawingml/2006/main">
            <a:r>
              <a:rPr lang="en-US" sz="1600">
                <a:solidFill>
                  <a:srgbClr val="FFFFFF"/>
                </a:solidFill>
              </a:rPr>
              <a:t>  Case pipeline funnel</a:t>
            </a:r>
          </a:p>
          <a:p xmlns:a="http://schemas.openxmlformats.org/drawingml/2006/main">
            <a:r>
              <a:rPr lang="en-US" sz="1600">
                <a:solidFill>
                  <a:srgbClr val="FFFFFF"/>
                </a:solidFill>
              </a:rPr>
              <a:t>  Unit economics table</a:t>
            </a:r>
          </a:p>
          <a:p xmlns:a="http://schemas.openxmlformats.org/drawingml/2006/main">
            <a:r>
              <a:rPr lang="en-US" sz="1600">
                <a:solidFill>
                  <a:srgbClr val="FFFFFF"/>
                </a:solidFill>
              </a:rPr>
              <a:t>  Statute knowledge base size</a:t>
            </a:r>
          </a:p>
          <a:p xmlns:a="http://schemas.openxmlformats.org/drawingml/2006/main">
            <a:r>
              <a:rPr lang="en-US" sz="1600">
                <a:solidFill>
                  <a:srgbClr val="FFFFFF"/>
                </a:solidFill>
              </a:rPr>
              <a:t>  Adoption metrics</a:t>
            </a:r>
          </a:p>
        </p:txBody>
      </p:sp>
    </p:spTree>
  </p:cSld>
</p:sld>
</file>

<file path=ppt/slides/slide8.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51"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08</a:t>
            </a:r>
          </a:p>
        </p:txBody>
      </p:sp>
      <p:sp>
        <p:nvSpPr>
          <p:cNvPr id="100052"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Testing &amp; Quality Assurance</a:t>
            </a:r>
          </a:p>
        </p:txBody>
      </p:sp>
      <p:sp>
        <p:nvSpPr>
          <p:cNvPr id="100053"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54" name="Total"/>
          <p:cNvSpPr txBox="1"/>
          <p:nvPr/>
        </p:nvSpPr>
        <p:spPr>
          <a:xfrm xmlns:a="http://schemas.openxmlformats.org/drawingml/2006/main">
            <a:off x="540000" y="1152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b="1">
                <a:solidFill>
                  <a:srgbClr val="F4C430"/>
                </a:solidFill>
              </a:rPr>
              <a:t>158 Tests — 158 Passing — 0 Failing</a:t>
            </a:r>
          </a:p>
        </p:txBody>
      </p:sp>
      <p:sp>
        <p:nvSpPr>
          <p:cNvPr id="100055" name="Backend"/>
          <p:cNvSpPr txBox="1"/>
          <p:nvPr/>
        </p:nvSpPr>
        <p:spPr>
          <a:xfrm xmlns:a="http://schemas.openxmlformats.org/drawingml/2006/main">
            <a:off x="540000" y="1980000"/>
            <a:ext cx="6840000" cy="252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600">
                <a:solidFill>
                  <a:srgbClr val="D0E8FF"/>
                </a:solidFill>
              </a:rPr>
              <a:t>Backend — 108 Tests</a:t>
            </a:r>
          </a:p>
          <a:p xmlns:a="http://schemas.openxmlformats.org/drawingml/2006/main">
            <a:r>
              <a:rPr lang="en-US" sz="1600">
                <a:solidFill>
                  <a:srgbClr val="D0E8FF"/>
                </a:solidFill>
              </a:rPr>
              <a:t/>
            </a:r>
          </a:p>
          <a:p xmlns:a="http://schemas.openxmlformats.org/drawingml/2006/main">
            <a:r>
              <a:rPr lang="en-US" sz="1600">
                <a:solidFill>
                  <a:srgbClr val="D0E8FF"/>
                </a:solidFill>
              </a:rPr>
              <a:t>  test_intake.py        12   Fact extraction, follow-up, status transitions</a:t>
            </a:r>
          </a:p>
          <a:p xmlns:a="http://schemas.openxmlformats.org/drawingml/2006/main">
            <a:r>
              <a:rPr lang="en-US" sz="1600">
                <a:solidFill>
                  <a:srgbClr val="D0E8FF"/>
                </a:solidFill>
              </a:rPr>
              <a:t>  test_notice.py        14   MCP pipeline, citation validation</a:t>
            </a:r>
          </a:p>
          <a:p xmlns:a="http://schemas.openxmlformats.org/drawingml/2006/main">
            <a:r>
              <a:rPr lang="en-US" sz="1600">
                <a:solidFill>
                  <a:srgbClr val="D0E8FF"/>
                </a:solidFill>
              </a:rPr>
              <a:t>  test_clinic.py        29   Approve/reject, PDF, JWT auth</a:t>
            </a:r>
          </a:p>
          <a:p xmlns:a="http://schemas.openxmlformats.org/drawingml/2006/main">
            <a:r>
              <a:rPr lang="en-US" sz="1600">
                <a:solidFill>
                  <a:srgbClr val="D0E8FF"/>
                </a:solidFill>
              </a:rPr>
              <a:t>  test_pii_security.py  53   PII masking + RBAC enforcement</a:t>
            </a:r>
          </a:p>
        </p:txBody>
      </p:sp>
      <p:sp>
        <p:nvSpPr>
          <p:cNvPr id="100056" name="MCP"/>
          <p:cNvSpPr txBox="1"/>
          <p:nvPr/>
        </p:nvSpPr>
        <p:spPr>
          <a:xfrm xmlns:a="http://schemas.openxmlformats.org/drawingml/2006/main">
            <a:off x="540000" y="4680000"/>
            <a:ext cx="6840000" cy="162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600">
                <a:solidFill>
                  <a:srgbClr val="D0E8FF"/>
                </a:solidFill>
              </a:rPr>
              <a:t>MCP Server — 50 Tests</a:t>
            </a:r>
          </a:p>
          <a:p xmlns:a="http://schemas.openxmlformats.org/drawingml/2006/main">
            <a:r>
              <a:rPr lang="en-US" sz="1600">
                <a:solidFill>
                  <a:srgbClr val="D0E8FF"/>
                </a:solidFill>
              </a:rPr>
              <a:t/>
            </a:r>
          </a:p>
          <a:p xmlns:a="http://schemas.openxmlformats.org/drawingml/2006/main">
            <a:r>
              <a:rPr lang="en-US" sz="1600">
                <a:solidFill>
                  <a:srgbClr val="D0E8FF"/>
                </a:solidFill>
              </a:rPr>
              <a:t>  test_lookup.py          30   BM25 search, keyword scoring, category filtering</a:t>
            </a:r>
          </a:p>
          <a:p xmlns:a="http://schemas.openxmlformats.org/drawingml/2006/main">
            <a:r>
              <a:rPr lang="en-US" sz="1600">
                <a:solidFill>
                  <a:srgbClr val="D0E8FF"/>
                </a:solidFill>
              </a:rPr>
              <a:t>  test_server_tools.py    20   MCP tool interface, validation logic</a:t>
            </a:r>
          </a:p>
        </p:txBody>
      </p:sp>
      <p:sp>
        <p:nvSpPr>
          <p:cNvPr id="100057" name="PIIHighlights"/>
          <p:cNvSpPr txBox="1"/>
          <p:nvPr/>
        </p:nvSpPr>
        <p:spPr>
          <a:xfrm xmlns:a="http://schemas.openxmlformats.org/drawingml/2006/main">
            <a:off x="7740000" y="1980000"/>
            <a:ext cx="3960000" cy="4320000"/>
          </a:xfrm>
          <a:prstGeom xmlns:a="http://schemas.openxmlformats.org/drawingml/2006/main" prst="rect">
            <a:avLst/>
          </a:prstGeom>
          <a:solidFill xmlns:a="http://schemas.openxmlformats.org/drawingml/2006/main">
            <a:srgbClr val="6E2C00"/>
          </a:solidFill>
        </p:spPr>
        <p:txBody>
          <a:bodyPr xmlns:a="http://schemas.openxmlformats.org/drawingml/2006/main"/>
          <a:lstStyle xmlns:a="http://schemas.openxmlformats.org/drawingml/2006/main"/>
          <a:p xmlns:a="http://schemas.openxmlformats.org/drawingml/2006/main">
            <a:r>
              <a:rPr lang="en-US" sz="1500">
                <a:solidFill>
                  <a:srgbClr val="FFFFFF"/>
                </a:solidFill>
              </a:rPr>
              <a:t>PII Test Highlights</a:t>
            </a:r>
          </a:p>
          <a:p xmlns:a="http://schemas.openxmlformats.org/drawingml/2006/main">
            <a:r>
              <a:rPr lang="en-US" sz="1500">
                <a:solidFill>
                  <a:srgbClr val="FFFFFF"/>
                </a:solidFill>
              </a:rPr>
              <a:t/>
            </a:r>
          </a:p>
          <a:p xmlns:a="http://schemas.openxmlformats.org/drawingml/2006/main">
            <a:r>
              <a:rPr lang="en-US" sz="1500">
                <a:solidFill>
                  <a:srgbClr val="FFFFFF"/>
                </a:solidFill>
              </a:rPr>
              <a:t>  6 PII types: Phone, Aadhaar, PAN,</a:t>
            </a:r>
          </a:p>
          <a:p xmlns:a="http://schemas.openxmlformats.org/drawingml/2006/main">
            <a:r>
              <a:rPr lang="en-US" sz="1500">
                <a:solidFill>
                  <a:srgbClr val="FFFFFF"/>
                </a:solidFill>
              </a:rPr>
              <a:t>  Bank Account, UPI, Email</a:t>
            </a:r>
          </a:p>
          <a:p xmlns:a="http://schemas.openxmlformats.org/drawingml/2006/main">
            <a:r>
              <a:rPr lang="en-US" sz="1500">
                <a:solidFill>
                  <a:srgbClr val="FFFFFF"/>
                </a:solidFill>
              </a:rPr>
              <a:t/>
            </a:r>
          </a:p>
          <a:p xmlns:a="http://schemas.openxmlformats.org/drawingml/2006/main">
            <a:r>
              <a:rPr lang="en-US" sz="1500">
                <a:solidFill>
                  <a:srgbClr val="FFFFFF"/>
                </a:solidFill>
              </a:rPr>
              <a:t>  Round-trip fidelity verified</a:t>
            </a:r>
          </a:p>
          <a:p xmlns:a="http://schemas.openxmlformats.org/drawingml/2006/main">
            <a:r>
              <a:rPr lang="en-US" sz="1500">
                <a:solidFill>
                  <a:srgbClr val="FFFFFF"/>
                </a:solidFill>
              </a:rPr>
              <a:t/>
            </a:r>
          </a:p>
          <a:p xmlns:a="http://schemas.openxmlformats.org/drawingml/2006/main">
            <a:r>
              <a:rPr lang="en-US" sz="1500">
                <a:solidFill>
                  <a:srgbClr val="FFFFFF"/>
                </a:solidFill>
              </a:rPr>
              <a:t>  LLM prompts scanned —</a:t>
            </a:r>
          </a:p>
          <a:p xmlns:a="http://schemas.openxmlformats.org/drawingml/2006/main">
            <a:r>
              <a:rPr lang="en-US" sz="1500">
                <a:solidFill>
                  <a:srgbClr val="FFFFFF"/>
                </a:solidFill>
              </a:rPr>
              <a:t>  zero raw PII in any prompt</a:t>
            </a:r>
          </a:p>
          <a:p xmlns:a="http://schemas.openxmlformats.org/drawingml/2006/main">
            <a:r>
              <a:rPr lang="en-US" sz="1500">
                <a:solidFill>
                  <a:srgbClr val="FFFFFF"/>
                </a:solidFill>
              </a:rPr>
              <a:t/>
            </a:r>
          </a:p>
          <a:p xmlns:a="http://schemas.openxmlformats.org/drawingml/2006/main">
            <a:r>
              <a:rPr lang="en-US" sz="1500">
                <a:solidFill>
                  <a:srgbClr val="FFFFFF"/>
                </a:solidFill>
              </a:rPr>
              <a:t>  Wrong-key JWT rejected</a:t>
            </a:r>
          </a:p>
          <a:p xmlns:a="http://schemas.openxmlformats.org/drawingml/2006/main">
            <a:r>
              <a:rPr lang="en-US" sz="1500">
                <a:solidFill>
                  <a:srgbClr val="FFFFFF"/>
                </a:solidFill>
              </a:rPr>
              <a:t/>
            </a:r>
          </a:p>
          <a:p xmlns:a="http://schemas.openxmlformats.org/drawingml/2006/main">
            <a:r>
              <a:rPr lang="en-US" sz="1500">
                <a:solidFill>
                  <a:srgbClr val="FFFFFF"/>
                </a:solidFill>
              </a:rPr>
              <a:t>  Forged token rejected</a:t>
            </a:r>
          </a:p>
          <a:p xmlns:a="http://schemas.openxmlformats.org/drawingml/2006/main">
            <a:r>
              <a:rPr lang="en-US" sz="1500">
                <a:solidFill>
                  <a:srgbClr val="FFFFFF"/>
                </a:solidFill>
              </a:rPr>
              <a:t/>
            </a:r>
          </a:p>
          <a:p xmlns:a="http://schemas.openxmlformats.org/drawingml/2006/main">
            <a:r>
              <a:rPr lang="en-US" sz="1500">
                <a:solidFill>
                  <a:srgbClr val="FFFFFF"/>
                </a:solidFill>
              </a:rPr>
              <a:t>  Public endpoints unblocked</a:t>
            </a:r>
          </a:p>
        </p:txBody>
      </p:sp>
    </p:spTree>
  </p:cSld>
</p:sld>
</file>

<file path=ppt/slides/slide9.xml><?xml version="1.0" encoding="utf-8"?>
<p:sld xmlns:p="http://schemas.openxmlformats.org/presentationml/2006/main">
  <p:cSld>
    <p:bg>
      <p:bgPr>
        <a:solidFill xmlns:a="http://schemas.openxmlformats.org/drawingml/2006/main">
          <a:srgbClr val="0D1B2A"/>
        </a:solidFill>
      </p:bgPr>
    </p:bg>
    <p:spTree>
      <p:nvGrpSpPr>
        <p:cNvPr id="1" name=""/>
        <p:cNvGrpSpPr/>
        <p:nvPr/>
      </p:nvGrpSpPr>
      <p:grpSpPr/>
      <p:sp>
        <p:nvSpPr>
          <p:cNvPr id="100058" name="SlideNum"/>
          <p:cNvSpPr txBox="1"/>
          <p:nvPr/>
        </p:nvSpPr>
        <p:spPr>
          <a:xfrm xmlns:a="http://schemas.openxmlformats.org/drawingml/2006/main">
            <a:off x="10800000" y="180000"/>
            <a:ext cx="108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EC8E3"/>
                </a:solidFill>
              </a:rPr>
              <a:t>09</a:t>
            </a:r>
          </a:p>
        </p:txBody>
      </p:sp>
      <p:sp>
        <p:nvSpPr>
          <p:cNvPr id="100059" name="Title"/>
          <p:cNvSpPr txBox="1"/>
          <p:nvPr/>
        </p:nvSpPr>
        <p:spPr>
          <a:xfrm xmlns:a="http://schemas.openxmlformats.org/drawingml/2006/main">
            <a:off x="540000" y="36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Scalability Roadmap</a:t>
            </a:r>
          </a:p>
        </p:txBody>
      </p:sp>
      <p:sp>
        <p:nvSpPr>
          <p:cNvPr id="100060" name="Accent"/>
          <p:cNvSpPr txBox="1"/>
          <p:nvPr/>
        </p:nvSpPr>
        <p:spPr>
          <a:xfrm xmlns:a="http://schemas.openxmlformats.org/drawingml/2006/main">
            <a:off x="540000" y="1044000"/>
            <a:ext cx="2160000" cy="72000"/>
          </a:xfrm>
          <a:prstGeom xmlns:a="http://schemas.openxmlformats.org/drawingml/2006/main" prst="rect">
            <a:avLst/>
          </a:prstGeom>
          <a:solidFill xmlns:a="http://schemas.openxmlformats.org/drawingml/2006/main">
            <a:srgbClr val="7EC8E3"/>
          </a:solidFill>
        </p:spPr>
        <p:txBody>
          <a:bodyPr xmlns:a="http://schemas.openxmlformats.org/drawingml/2006/main"/>
          <a:lstStyle xmlns:a="http://schemas.openxmlformats.org/drawingml/2006/main"/>
          <a:p xmlns:a="http://schemas.openxmlformats.org/drawingml/2006/main">
            <a:endParaRPr lang="en-US">
              <a:solidFill>
                <a:srgbClr val="7EC8E3"/>
              </a:solidFill>
            </a:endParaRPr>
          </a:p>
        </p:txBody>
      </p:sp>
      <p:sp>
        <p:nvSpPr>
          <p:cNvPr id="100061" name="Phase1"/>
          <p:cNvSpPr txBox="1"/>
          <p:nvPr/>
        </p:nvSpPr>
        <p:spPr>
          <a:xfrm xmlns:a="http://schemas.openxmlformats.org/drawingml/2006/main">
            <a:off x="540000" y="1152000"/>
            <a:ext cx="2700000" cy="3960000"/>
          </a:xfrm>
          <a:prstGeom xmlns:a="http://schemas.openxmlformats.org/drawingml/2006/main" prst="rect">
            <a:avLst/>
          </a:prstGeom>
          <a:solidFill xmlns:a="http://schemas.openxmlformats.org/drawingml/2006/main">
            <a:srgbClr val="145A32"/>
          </a:solidFill>
        </p:spPr>
        <p:txBody>
          <a:bodyPr xmlns:a="http://schemas.openxmlformats.org/drawingml/2006/main"/>
          <a:lstStyle xmlns:a="http://schemas.openxmlformats.org/drawingml/2006/main"/>
          <a:p xmlns:a="http://schemas.openxmlformats.org/drawingml/2006/main">
            <a:r>
              <a:rPr lang="en-US" sz="1500">
                <a:solidFill>
                  <a:srgbClr val="FFFFFF"/>
                </a:solidFill>
              </a:rPr>
              <a:t>Phase 1 — MVP (Now)</a:t>
            </a:r>
          </a:p>
          <a:p xmlns:a="http://schemas.openxmlformats.org/drawingml/2006/main">
            <a:r>
              <a:rPr lang="en-US" sz="1500">
                <a:solidFill>
                  <a:srgbClr val="FFFFFF"/>
                </a:solidFill>
              </a:rPr>
              <a:t/>
            </a:r>
          </a:p>
          <a:p xmlns:a="http://schemas.openxmlformats.org/drawingml/2006/main">
            <a:r>
              <a:rPr lang="en-US" sz="1500">
                <a:solidFill>
                  <a:srgbClr val="FFFFFF"/>
                </a:solidFill>
              </a:rPr>
              <a:t>  3 dispute categories</a:t>
            </a:r>
          </a:p>
          <a:p xmlns:a="http://schemas.openxmlformats.org/drawingml/2006/main">
            <a:r>
              <a:rPr lang="en-US" sz="1500">
                <a:solidFill>
                  <a:srgbClr val="FFFFFF"/>
                </a:solidFill>
              </a:rPr>
              <a:t>  34 statute provisions</a:t>
            </a:r>
          </a:p>
          <a:p xmlns:a="http://schemas.openxmlformats.org/drawingml/2006/main">
            <a:r>
              <a:rPr lang="en-US" sz="1500">
                <a:solidFill>
                  <a:srgbClr val="FFFFFF"/>
                </a:solidFill>
              </a:rPr>
              <a:t>  Hindi + English intake</a:t>
            </a:r>
          </a:p>
          <a:p xmlns:a="http://schemas.openxmlformats.org/drawingml/2006/main">
            <a:r>
              <a:rPr lang="en-US" sz="1500">
                <a:solidFill>
                  <a:srgbClr val="FFFFFF"/>
                </a:solidFill>
              </a:rPr>
              <a:t>  GitHub Pages live demo</a:t>
            </a:r>
          </a:p>
          <a:p xmlns:a="http://schemas.openxmlformats.org/drawingml/2006/main">
            <a:r>
              <a:rPr lang="en-US" sz="1500">
                <a:solidFill>
                  <a:srgbClr val="FFFFFF"/>
                </a:solidFill>
              </a:rPr>
              <a:t>  158 automated tests</a:t>
            </a:r>
          </a:p>
          <a:p xmlns:a="http://schemas.openxmlformats.org/drawingml/2006/main">
            <a:r>
              <a:rPr lang="en-US" sz="1500">
                <a:solidFill>
                  <a:srgbClr val="FFFFFF"/>
                </a:solidFill>
              </a:rPr>
              <a:t>  Offline demo mode</a:t>
            </a:r>
          </a:p>
        </p:txBody>
      </p:sp>
      <p:sp>
        <p:nvSpPr>
          <p:cNvPr id="100062" name="Phase2"/>
          <p:cNvSpPr txBox="1"/>
          <p:nvPr/>
        </p:nvSpPr>
        <p:spPr>
          <a:xfrm xmlns:a="http://schemas.openxmlformats.org/drawingml/2006/main">
            <a:off x="3420000" y="1152000"/>
            <a:ext cx="2700000" cy="396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500">
                <a:solidFill>
                  <a:srgbClr val="FFFFFF"/>
                </a:solidFill>
              </a:rPr>
              <a:t>Phase 2 — Expansion</a:t>
            </a:r>
          </a:p>
          <a:p xmlns:a="http://schemas.openxmlformats.org/drawingml/2006/main">
            <a:r>
              <a:rPr lang="en-US" sz="1500">
                <a:solidFill>
                  <a:srgbClr val="FFFFFF"/>
                </a:solidFill>
              </a:rPr>
              <a:t>  (0-6 months)</a:t>
            </a:r>
          </a:p>
          <a:p xmlns:a="http://schemas.openxmlformats.org/drawingml/2006/main">
            <a:r>
              <a:rPr lang="en-US" sz="1500">
                <a:solidFill>
                  <a:srgbClr val="FFFFFF"/>
                </a:solidFill>
              </a:rPr>
              <a:t/>
            </a:r>
          </a:p>
          <a:p xmlns:a="http://schemas.openxmlformats.org/drawingml/2006/main">
            <a:r>
              <a:rPr lang="en-US" sz="1500">
                <a:solidFill>
                  <a:srgbClr val="FFFFFF"/>
                </a:solidFill>
              </a:rPr>
              <a:t>  Add 5+ dispute categories</a:t>
            </a:r>
          </a:p>
          <a:p xmlns:a="http://schemas.openxmlformats.org/drawingml/2006/main">
            <a:r>
              <a:rPr lang="en-US" sz="1500">
                <a:solidFill>
                  <a:srgbClr val="FFFFFF"/>
                </a:solidFill>
              </a:rPr>
              <a:t>  Motor Accident, Family, Land</a:t>
            </a:r>
          </a:p>
          <a:p xmlns:a="http://schemas.openxmlformats.org/drawingml/2006/main">
            <a:r>
              <a:rPr lang="en-US" sz="1500">
                <a:solidFill>
                  <a:srgbClr val="FFFFFF"/>
                </a:solidFill>
              </a:rPr>
              <a:t>  Expand corpus to 100+ provisions</a:t>
            </a:r>
          </a:p>
          <a:p xmlns:a="http://schemas.openxmlformats.org/drawingml/2006/main">
            <a:r>
              <a:rPr lang="en-US" sz="1500">
                <a:solidFill>
                  <a:srgbClr val="FFFFFF"/>
                </a:solidFill>
              </a:rPr>
              <a:t>  Hindi full-UI translation</a:t>
            </a:r>
          </a:p>
          <a:p xmlns:a="http://schemas.openxmlformats.org/drawingml/2006/main">
            <a:r>
              <a:rPr lang="en-US" sz="1500">
                <a:solidFill>
                  <a:srgbClr val="FFFFFF"/>
                </a:solidFill>
              </a:rPr>
              <a:t>  WhatsApp intake channel</a:t>
            </a:r>
          </a:p>
          <a:p xmlns:a="http://schemas.openxmlformats.org/drawingml/2006/main">
            <a:r>
              <a:rPr lang="en-US" sz="1500">
                <a:solidFill>
                  <a:srgbClr val="FFFFFF"/>
                </a:solidFill>
              </a:rPr>
              <a:t>  Voice-first mobile app</a:t>
            </a:r>
          </a:p>
        </p:txBody>
      </p:sp>
      <p:sp>
        <p:nvSpPr>
          <p:cNvPr id="100063" name="Phase3"/>
          <p:cNvSpPr txBox="1"/>
          <p:nvPr/>
        </p:nvSpPr>
        <p:spPr>
          <a:xfrm xmlns:a="http://schemas.openxmlformats.org/drawingml/2006/main">
            <a:off x="6300000" y="1152000"/>
            <a:ext cx="2700000" cy="3960000"/>
          </a:xfrm>
          <a:prstGeom xmlns:a="http://schemas.openxmlformats.org/drawingml/2006/main" prst="rect">
            <a:avLst/>
          </a:prstGeom>
          <a:solidFill xmlns:a="http://schemas.openxmlformats.org/drawingml/2006/main">
            <a:srgbClr val="4A235A"/>
          </a:solidFill>
        </p:spPr>
        <p:txBody>
          <a:bodyPr xmlns:a="http://schemas.openxmlformats.org/drawingml/2006/main"/>
          <a:lstStyle xmlns:a="http://schemas.openxmlformats.org/drawingml/2006/main"/>
          <a:p xmlns:a="http://schemas.openxmlformats.org/drawingml/2006/main">
            <a:r>
              <a:rPr lang="en-US" sz="1500">
                <a:solidFill>
                  <a:srgbClr val="FFFFFF"/>
                </a:solidFill>
              </a:rPr>
              <a:t>Phase 3 — Institutional</a:t>
            </a:r>
          </a:p>
          <a:p xmlns:a="http://schemas.openxmlformats.org/drawingml/2006/main">
            <a:r>
              <a:rPr lang="en-US" sz="1500">
                <a:solidFill>
                  <a:srgbClr val="FFFFFF"/>
                </a:solidFill>
              </a:rPr>
              <a:t>  (6-18 months)</a:t>
            </a:r>
          </a:p>
          <a:p xmlns:a="http://schemas.openxmlformats.org/drawingml/2006/main">
            <a:r>
              <a:rPr lang="en-US" sz="1500">
                <a:solidFill>
                  <a:srgbClr val="FFFFFF"/>
                </a:solidFill>
              </a:rPr>
              <a:t/>
            </a:r>
          </a:p>
          <a:p xmlns:a="http://schemas.openxmlformats.org/drawingml/2006/main">
            <a:r>
              <a:rPr lang="en-US" sz="1500">
                <a:solidFill>
                  <a:srgbClr val="FFFFFF"/>
                </a:solidFill>
              </a:rPr>
              <a:t>  District court integration</a:t>
            </a:r>
          </a:p>
          <a:p xmlns:a="http://schemas.openxmlformats.org/drawingml/2006/main">
            <a:r>
              <a:rPr lang="en-US" sz="1500">
                <a:solidFill>
                  <a:srgbClr val="FFFFFF"/>
                </a:solidFill>
              </a:rPr>
              <a:t>  e-filing API connection</a:t>
            </a:r>
          </a:p>
          <a:p xmlns:a="http://schemas.openxmlformats.org/drawingml/2006/main">
            <a:r>
              <a:rPr lang="en-US" sz="1500">
                <a:solidFill>
                  <a:srgbClr val="FFFFFF"/>
                </a:solidFill>
              </a:rPr>
              <a:t>  Multi-language (Tamil, Bengali)</a:t>
            </a:r>
          </a:p>
          <a:p xmlns:a="http://schemas.openxmlformats.org/drawingml/2006/main">
            <a:r>
              <a:rPr lang="en-US" sz="1500">
                <a:solidFill>
                  <a:srgbClr val="FFFFFF"/>
                </a:solidFill>
              </a:rPr>
              <a:t>  Law school clinic API</a:t>
            </a:r>
          </a:p>
          <a:p xmlns:a="http://schemas.openxmlformats.org/drawingml/2006/main">
            <a:r>
              <a:rPr lang="en-US" sz="1500">
                <a:solidFill>
                  <a:srgbClr val="FFFFFF"/>
                </a:solidFill>
              </a:rPr>
              <a:t>  NGO partnership portal</a:t>
            </a:r>
          </a:p>
          <a:p xmlns:a="http://schemas.openxmlformats.org/drawingml/2006/main">
            <a:r>
              <a:rPr lang="en-US" sz="1500">
                <a:solidFill>
                  <a:srgbClr val="FFFFFF"/>
                </a:solidFill>
              </a:rPr>
              <a:t>  Aadhaar e-sign for notices</a:t>
            </a:r>
          </a:p>
        </p:txBody>
      </p:sp>
      <p:sp>
        <p:nvSpPr>
          <p:cNvPr id="100064" name="Phase4"/>
          <p:cNvSpPr txBox="1"/>
          <p:nvPr/>
        </p:nvSpPr>
        <p:spPr>
          <a:xfrm xmlns:a="http://schemas.openxmlformats.org/drawingml/2006/main">
            <a:off x="9180000" y="1152000"/>
            <a:ext cx="2520000" cy="3960000"/>
          </a:xfrm>
          <a:prstGeom xmlns:a="http://schemas.openxmlformats.org/drawingml/2006/main" prst="rect">
            <a:avLst/>
          </a:prstGeom>
          <a:solidFill xmlns:a="http://schemas.openxmlformats.org/drawingml/2006/main">
            <a:srgbClr val="6E2C00"/>
          </a:solidFill>
        </p:spPr>
        <p:txBody>
          <a:bodyPr xmlns:a="http://schemas.openxmlformats.org/drawingml/2006/main"/>
          <a:lstStyle xmlns:a="http://schemas.openxmlformats.org/drawingml/2006/main"/>
          <a:p xmlns:a="http://schemas.openxmlformats.org/drawingml/2006/main">
            <a:r>
              <a:rPr lang="en-US" sz="1500">
                <a:solidFill>
                  <a:srgbClr val="FFFFFF"/>
                </a:solidFill>
              </a:rPr>
              <a:t>Phase 4 — Ecosystem</a:t>
            </a:r>
          </a:p>
          <a:p xmlns:a="http://schemas.openxmlformats.org/drawingml/2006/main">
            <a:r>
              <a:rPr lang="en-US" sz="1500">
                <a:solidFill>
                  <a:srgbClr val="FFFFFF"/>
                </a:solidFill>
              </a:rPr>
              <a:t>  (18+ months)</a:t>
            </a:r>
          </a:p>
          <a:p xmlns:a="http://schemas.openxmlformats.org/drawingml/2006/main">
            <a:r>
              <a:rPr lang="en-US" sz="1500">
                <a:solidFill>
                  <a:srgbClr val="FFFFFF"/>
                </a:solidFill>
              </a:rPr>
              <a:t/>
            </a:r>
          </a:p>
          <a:p xmlns:a="http://schemas.openxmlformats.org/drawingml/2006/main">
            <a:r>
              <a:rPr lang="en-US" sz="1500">
                <a:solidFill>
                  <a:srgbClr val="FFFFFF"/>
                </a:solidFill>
              </a:rPr>
              <a:t>  Open API for legal aid orgs</a:t>
            </a:r>
          </a:p>
          <a:p xmlns:a="http://schemas.openxmlformats.org/drawingml/2006/main">
            <a:r>
              <a:rPr lang="en-US" sz="1500">
                <a:solidFill>
                  <a:srgbClr val="FFFFFF"/>
                </a:solidFill>
              </a:rPr>
              <a:t>  Judicial data analytics</a:t>
            </a:r>
          </a:p>
          <a:p xmlns:a="http://schemas.openxmlformats.org/drawingml/2006/main">
            <a:r>
              <a:rPr lang="en-US" sz="1500">
                <a:solidFill>
                  <a:srgbClr val="FFFFFF"/>
                </a:solidFill>
              </a:rPr>
              <a:t>  Cross-state statute coverage</a:t>
            </a:r>
          </a:p>
          <a:p xmlns:a="http://schemas.openxmlformats.org/drawingml/2006/main">
            <a:r>
              <a:rPr lang="en-US" sz="1500">
                <a:solidFill>
                  <a:srgbClr val="FFFFFF"/>
                </a:solidFill>
              </a:rPr>
              <a:t>  Auto-court filing integration</a:t>
            </a:r>
          </a:p>
          <a:p xmlns:a="http://schemas.openxmlformats.org/drawingml/2006/main">
            <a:r>
              <a:rPr lang="en-US" sz="1500">
                <a:solidFill>
                  <a:srgbClr val="FFFFFF"/>
                </a:solidFill>
              </a:rPr>
              <a:t>  Impact bond structure</a:t>
            </a:r>
          </a:p>
          <a:p xmlns:a="http://schemas.openxmlformats.org/drawingml/2006/main">
            <a:r>
              <a:rPr lang="en-US" sz="1500">
                <a:solidFill>
                  <a:srgbClr val="FFFFFF"/>
                </a:solidFill>
              </a:rPr>
              <a:t>  International adaptation</a:t>
            </a:r>
          </a:p>
        </p:txBody>
      </p:sp>
      <p:sp>
        <p:nvSpPr>
          <p:cNvPr id="100065" name="Footer"/>
          <p:cNvSpPr txBox="1"/>
          <p:nvPr/>
        </p:nvSpPr>
        <p:spPr>
          <a:xfrm xmlns:a="http://schemas.openxmlformats.org/drawingml/2006/main">
            <a:off x="540000" y="540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b="1">
                <a:solidFill>
                  <a:srgbClr val="F4C430"/>
                </a:solidFill>
              </a:rPr>
              <a:t>Target: 1 million notices / year at &lt; Rs 50 each = Rs 5 crore in legal aid value delivered</a:t>
            </a:r>
          </a:p>
        </p:txBody>
      </p:sp>
    </p:spTree>
  </p:cSld>
</p:sld>
</file>

<file path=ppt/slides/slide10.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66" name="Title"/>
          <p:cNvSpPr txBox="1"/>
          <p:nvPr/>
        </p:nvSpPr>
        <p:spPr>
          <a:xfrm xmlns:a="http://schemas.openxmlformats.org/drawingml/2006/main">
            <a:off x="540000" y="108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800" b="1">
                <a:solidFill>
                  <a:srgbClr val="FFFFFF"/>
                </a:solidFill>
              </a:rPr>
              <a:t>Thank You</a:t>
            </a:r>
          </a:p>
        </p:txBody>
      </p:sp>
      <p:sp>
        <p:nvSpPr>
          <p:cNvPr id="100067" name="Tagline"/>
          <p:cNvSpPr txBox="1"/>
          <p:nvPr/>
        </p:nvSpPr>
        <p:spPr>
          <a:xfrm xmlns:a="http://schemas.openxmlformats.org/drawingml/2006/main">
            <a:off x="540000" y="234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400">
                <a:solidFill>
                  <a:srgbClr val="7EC8E3"/>
                </a:solidFill>
              </a:rPr>
              <a:t>Legal Rights Navigator: Pre-Litigation Engine</a:t>
            </a:r>
          </a:p>
        </p:txBody>
      </p:sp>
      <p:sp>
        <p:nvSpPr>
          <p:cNvPr id="100068" name="SDG"/>
          <p:cNvSpPr txBox="1"/>
          <p:nvPr/>
        </p:nvSpPr>
        <p:spPr>
          <a:xfrm xmlns:a="http://schemas.openxmlformats.org/drawingml/2006/main">
            <a:off x="540000" y="306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a:solidFill>
                  <a:srgbClr val="D0E8FF"/>
                </a:solidFill>
              </a:rPr>
              <a:t>SDG 16.3 — Equal Access to Justice for All</a:t>
            </a:r>
          </a:p>
        </p:txBody>
      </p:sp>
      <p:sp>
        <p:nvSpPr>
          <p:cNvPr id="100069" name="Links"/>
          <p:cNvSpPr txBox="1"/>
          <p:nvPr/>
        </p:nvSpPr>
        <p:spPr>
          <a:xfrm xmlns:a="http://schemas.openxmlformats.org/drawingml/2006/main">
            <a:off x="540000" y="3780000"/>
            <a:ext cx="1080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7EC8E3"/>
                </a:solidFill>
              </a:rPr>
              <a:t>Live Demo</a:t>
            </a:r>
          </a:p>
          <a:p xmlns:a="http://schemas.openxmlformats.org/drawingml/2006/main">
            <a:r>
              <a:rPr lang="en-US" sz="1800">
                <a:solidFill>
                  <a:srgbClr val="7EC8E3"/>
                </a:solidFill>
              </a:rPr>
              <a:t>ayushgadigone-del.github.io/legal-rights-navigator</a:t>
            </a:r>
          </a:p>
          <a:p xmlns:a="http://schemas.openxmlformats.org/drawingml/2006/main">
            <a:r>
              <a:rPr lang="en-US" sz="1800">
                <a:solidFill>
                  <a:srgbClr val="7EC8E3"/>
                </a:solidFill>
              </a:rPr>
              <a:t/>
            </a:r>
          </a:p>
          <a:p xmlns:a="http://schemas.openxmlformats.org/drawingml/2006/main">
            <a:r>
              <a:rPr lang="en-US" sz="1800">
                <a:solidFill>
                  <a:srgbClr val="7EC8E3"/>
                </a:solidFill>
              </a:rPr>
              <a:t>GitHub Repository</a:t>
            </a:r>
          </a:p>
          <a:p xmlns:a="http://schemas.openxmlformats.org/drawingml/2006/main">
            <a:r>
              <a:rPr lang="en-US" sz="1800">
                <a:solidFill>
                  <a:srgbClr val="7EC8E3"/>
                </a:solidFill>
              </a:rPr>
              <a:t>github.com/ayushgadigone-del/legal-rights-navigator</a:t>
            </a:r>
          </a:p>
        </p:txBody>
      </p:sp>
      <p:sp>
        <p:nvSpPr>
          <p:cNvPr id="100070" name="Stats"/>
          <p:cNvSpPr txBox="1"/>
          <p:nvPr/>
        </p:nvSpPr>
        <p:spPr>
          <a:xfrm xmlns:a="http://schemas.openxmlformats.org/drawingml/2006/main">
            <a:off x="540000" y="558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D0E8FF"/>
                </a:solidFill>
              </a:rPr>
              <a:t>158 Tests  •  34 Statute Provisions  •  4 Acts  •  3 Dispute Categories  •  Zero Hallucinated Citations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2026-10-15T04:29:51Z</dcterms:created>
  <cp:lastModifiedBy>OfficeCLI</cp:lastModifiedBy>
  <dcterms:modified xsi:type="dcterms:W3CDTF">2026-10-15T04:29:51Z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1.0.157</vt:lpwstr>
  </op:property>
  <op:property fmtid="{D5CDD505-2E9C-101B-9397-08002B2CF9AE}" pid="3" name="OfficeCLI.LastModified">
    <vt:lpwstr xmlns:vt="http://schemas.openxmlformats.org/officeDocument/2006/docPropsVTypes">2026-10-15T04:32:48Z</vt:lpwstr>
  </op:property>
</op:Properties>
</file>